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9144000" cy="16256000"/>
  <p:embeddedFontLst>
    <p:embeddedFont>
      <p:font typeface="Inter" panose="020B0604020202020204" charset="0"/>
      <p:regular r:id="rId14"/>
    </p:embeddedFont>
    <p:embeddedFont>
      <p:font typeface="Manrope" panose="020B0604020202020204" charset="0"/>
      <p:regular r:id="rId15"/>
    </p:embeddedFont>
    <p:embeddedFont>
      <p:font typeface="Roboto Mono" panose="00000009000000000000" pitchFamily="49" charset="0"/>
      <p:regular r:id="rId16"/>
      <p:bold r:id="rId17"/>
      <p:italic r:id="rId18"/>
      <p:boldItalic r:id="rId19"/>
    </p:embeddedFont>
    <p:embeddedFont>
      <p:font typeface="voestalpine" panose="020B0500030000000000" pitchFamily="34" charset="0"/>
      <p:regular r:id="rId20"/>
      <p:bold r:id="rId21"/>
      <p:italic r:id="rId22"/>
      <p:boldItalic r:id="rId23"/>
    </p:embeddedFont>
    <p:embeddedFont>
      <p:font typeface="voestalpine Light" panose="020B0300030000000000" pitchFamily="34" charset="0"/>
      <p:regular r:id="rId24"/>
      <p:italic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9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5B3D8B-6F4B-4D76-807E-C4E2CA540B57}" v="6" dt="2026-10-07T09:20:09.4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5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CELLIN MARCOMATTIA" userId="b10b0131-a594-4df8-859c-597b494c14ce" providerId="ADAL" clId="{EC049AEA-2551-45F3-A5A5-8D13A73FB2A9}"/>
    <pc:docChg chg="undo custSel addSld delSld modSld">
      <pc:chgData name="MOCELLIN MARCOMATTIA" userId="b10b0131-a594-4df8-859c-597b494c14ce" providerId="ADAL" clId="{EC049AEA-2551-45F3-A5A5-8D13A73FB2A9}" dt="2026-10-07T09:57:29.490" v="517" actId="20577"/>
      <pc:docMkLst>
        <pc:docMk/>
      </pc:docMkLst>
      <pc:sldChg chg="modSp mod">
        <pc:chgData name="MOCELLIN MARCOMATTIA" userId="b10b0131-a594-4df8-859c-597b494c14ce" providerId="ADAL" clId="{EC049AEA-2551-45F3-A5A5-8D13A73FB2A9}" dt="2026-10-07T09:17:33.052" v="291" actId="790"/>
        <pc:sldMkLst>
          <pc:docMk/>
          <pc:sldMk cId="0" sldId="256"/>
        </pc:sldMkLst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6"/>
            <ac:spMk id="2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6"/>
            <ac:spMk id="3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6"/>
            <ac:spMk id="4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6"/>
            <ac:spMk id="5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6"/>
            <ac:spMk id="6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06:01.975" v="0" actId="14100"/>
          <ac:spMkLst>
            <pc:docMk/>
            <pc:sldMk cId="0" sldId="256"/>
            <ac:spMk id="7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6"/>
            <ac:spMk id="8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6"/>
            <ac:spMk id="9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6"/>
            <ac:spMk id="11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6"/>
            <ac:spMk id="12" creationId="{00000000-0000-0000-0000-000000000000}"/>
          </ac:spMkLst>
        </pc:spChg>
      </pc:sldChg>
      <pc:sldChg chg="delSp modSp mod">
        <pc:chgData name="MOCELLIN MARCOMATTIA" userId="b10b0131-a594-4df8-859c-597b494c14ce" providerId="ADAL" clId="{EC049AEA-2551-45F3-A5A5-8D13A73FB2A9}" dt="2026-10-07T09:17:33.052" v="291" actId="790"/>
        <pc:sldMkLst>
          <pc:docMk/>
          <pc:sldMk cId="0" sldId="257"/>
        </pc:sldMkLst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7"/>
            <ac:spMk id="2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06:30.444" v="9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7"/>
            <ac:spMk id="5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7"/>
            <ac:spMk id="7" creationId="{00000000-0000-0000-0000-000000000000}"/>
          </ac:spMkLst>
        </pc:spChg>
        <pc:spChg chg="del">
          <ac:chgData name="MOCELLIN MARCOMATTIA" userId="b10b0131-a594-4df8-859c-597b494c14ce" providerId="ADAL" clId="{EC049AEA-2551-45F3-A5A5-8D13A73FB2A9}" dt="2026-10-07T09:06:38.019" v="10" actId="478"/>
          <ac:spMkLst>
            <pc:docMk/>
            <pc:sldMk cId="0" sldId="257"/>
            <ac:spMk id="8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7"/>
            <ac:spMk id="11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7"/>
            <ac:spMk id="15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7"/>
            <ac:spMk id="16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7"/>
            <ac:spMk id="18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7"/>
            <ac:spMk id="19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7"/>
            <ac:spMk id="21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7"/>
            <ac:spMk id="23" creationId="{00000000-0000-0000-0000-000000000000}"/>
          </ac:spMkLst>
        </pc:spChg>
      </pc:sldChg>
      <pc:sldChg chg="modSp mod">
        <pc:chgData name="MOCELLIN MARCOMATTIA" userId="b10b0131-a594-4df8-859c-597b494c14ce" providerId="ADAL" clId="{EC049AEA-2551-45F3-A5A5-8D13A73FB2A9}" dt="2026-10-07T09:20:12.384" v="487" actId="20577"/>
        <pc:sldMkLst>
          <pc:docMk/>
          <pc:sldMk cId="0" sldId="258"/>
        </pc:sldMkLst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8"/>
            <ac:spMk id="4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8"/>
            <ac:spMk id="6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8"/>
            <ac:spMk id="7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8"/>
            <ac:spMk id="8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8"/>
            <ac:spMk id="12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8"/>
            <ac:spMk id="14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8"/>
            <ac:spMk id="15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9:47.928" v="482" actId="14100"/>
          <ac:spMkLst>
            <pc:docMk/>
            <pc:sldMk cId="0" sldId="258"/>
            <ac:spMk id="16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20:12.384" v="487" actId="20577"/>
          <ac:spMkLst>
            <pc:docMk/>
            <pc:sldMk cId="0" sldId="258"/>
            <ac:spMk id="17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8"/>
            <ac:spMk id="19" creationId="{00000000-0000-0000-0000-000000000000}"/>
          </ac:spMkLst>
        </pc:spChg>
      </pc:sldChg>
      <pc:sldChg chg="modSp mod">
        <pc:chgData name="MOCELLIN MARCOMATTIA" userId="b10b0131-a594-4df8-859c-597b494c14ce" providerId="ADAL" clId="{EC049AEA-2551-45F3-A5A5-8D13A73FB2A9}" dt="2026-10-07T09:17:33.052" v="291" actId="790"/>
        <pc:sldMkLst>
          <pc:docMk/>
          <pc:sldMk cId="0" sldId="259"/>
        </pc:sldMkLst>
        <pc:spChg chg="mod">
          <ac:chgData name="MOCELLIN MARCOMATTIA" userId="b10b0131-a594-4df8-859c-597b494c14ce" providerId="ADAL" clId="{EC049AEA-2551-45F3-A5A5-8D13A73FB2A9}" dt="2026-10-07T09:07:58.354" v="76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9"/>
            <ac:spMk id="5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9"/>
            <ac:spMk id="9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9"/>
            <ac:spMk id="16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9"/>
            <ac:spMk id="18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9"/>
            <ac:spMk id="21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9"/>
            <ac:spMk id="23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9"/>
            <ac:spMk id="25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9"/>
            <ac:spMk id="26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9"/>
            <ac:spMk id="29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08:09.884" v="88" actId="20577"/>
          <ac:spMkLst>
            <pc:docMk/>
            <pc:sldMk cId="0" sldId="259"/>
            <ac:spMk id="30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59"/>
            <ac:spMk id="34" creationId="{00000000-0000-0000-0000-000000000000}"/>
          </ac:spMkLst>
        </pc:spChg>
      </pc:sldChg>
      <pc:sldChg chg="delSp modSp mod">
        <pc:chgData name="MOCELLIN MARCOMATTIA" userId="b10b0131-a594-4df8-859c-597b494c14ce" providerId="ADAL" clId="{EC049AEA-2551-45F3-A5A5-8D13A73FB2A9}" dt="2026-10-07T09:21:05.352" v="512" actId="6549"/>
        <pc:sldMkLst>
          <pc:docMk/>
          <pc:sldMk cId="0" sldId="260"/>
        </pc:sldMkLst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0"/>
            <ac:spMk id="2" creationId="{00000000-0000-0000-0000-000000000000}"/>
          </ac:spMkLst>
        </pc:spChg>
        <pc:spChg chg="del">
          <ac:chgData name="MOCELLIN MARCOMATTIA" userId="b10b0131-a594-4df8-859c-597b494c14ce" providerId="ADAL" clId="{EC049AEA-2551-45F3-A5A5-8D13A73FB2A9}" dt="2026-10-07T09:20:48.797" v="488" actId="478"/>
          <ac:spMkLst>
            <pc:docMk/>
            <pc:sldMk cId="0" sldId="260"/>
            <ac:spMk id="4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0"/>
            <ac:spMk id="8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0"/>
            <ac:spMk id="11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0"/>
            <ac:spMk id="12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0"/>
            <ac:spMk id="15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0"/>
            <ac:spMk id="17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0"/>
            <ac:spMk id="24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0"/>
            <ac:spMk id="26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0"/>
            <ac:spMk id="27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21:05.352" v="512" actId="6549"/>
          <ac:spMkLst>
            <pc:docMk/>
            <pc:sldMk cId="0" sldId="260"/>
            <ac:spMk id="29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0"/>
            <ac:spMk id="30" creationId="{00000000-0000-0000-0000-000000000000}"/>
          </ac:spMkLst>
        </pc:spChg>
      </pc:sldChg>
      <pc:sldChg chg="modSp mod">
        <pc:chgData name="MOCELLIN MARCOMATTIA" userId="b10b0131-a594-4df8-859c-597b494c14ce" providerId="ADAL" clId="{EC049AEA-2551-45F3-A5A5-8D13A73FB2A9}" dt="2026-10-07T09:21:42.886" v="515" actId="12"/>
        <pc:sldMkLst>
          <pc:docMk/>
          <pc:sldMk cId="0" sldId="261"/>
        </pc:sldMkLst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1"/>
            <ac:spMk id="6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1"/>
            <ac:spMk id="7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1"/>
            <ac:spMk id="12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1"/>
            <ac:spMk id="16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1"/>
            <ac:spMk id="18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1"/>
            <ac:spMk id="21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1"/>
            <ac:spMk id="27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21:42.886" v="515" actId="12"/>
          <ac:spMkLst>
            <pc:docMk/>
            <pc:sldMk cId="0" sldId="261"/>
            <ac:spMk id="28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1"/>
            <ac:spMk id="29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1"/>
            <ac:spMk id="35" creationId="{00000000-0000-0000-0000-000000000000}"/>
          </ac:spMkLst>
        </pc:spChg>
      </pc:sldChg>
      <pc:sldChg chg="modSp mod">
        <pc:chgData name="MOCELLIN MARCOMATTIA" userId="b10b0131-a594-4df8-859c-597b494c14ce" providerId="ADAL" clId="{EC049AEA-2551-45F3-A5A5-8D13A73FB2A9}" dt="2026-10-07T09:17:33.052" v="291" actId="790"/>
        <pc:sldMkLst>
          <pc:docMk/>
          <pc:sldMk cId="0" sldId="262"/>
        </pc:sldMkLst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2"/>
            <ac:spMk id="6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2"/>
            <ac:spMk id="8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2"/>
            <ac:spMk id="9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09:22.956" v="92" actId="14100"/>
          <ac:spMkLst>
            <pc:docMk/>
            <pc:sldMk cId="0" sldId="262"/>
            <ac:spMk id="11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2"/>
            <ac:spMk id="12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09:52.396" v="99" actId="14100"/>
          <ac:spMkLst>
            <pc:docMk/>
            <pc:sldMk cId="0" sldId="262"/>
            <ac:spMk id="14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09:49.191" v="98" actId="14100"/>
          <ac:spMkLst>
            <pc:docMk/>
            <pc:sldMk cId="0" sldId="262"/>
            <ac:spMk id="15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2"/>
            <ac:spMk id="16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2"/>
            <ac:spMk id="17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2"/>
            <ac:spMk id="18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09:15.507" v="90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2"/>
            <ac:spMk id="20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2"/>
            <ac:spMk id="21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2"/>
            <ac:spMk id="23" creationId="{00000000-0000-0000-0000-000000000000}"/>
          </ac:spMkLst>
        </pc:spChg>
      </pc:sldChg>
      <pc:sldChg chg="delSp modSp mod">
        <pc:chgData name="MOCELLIN MARCOMATTIA" userId="b10b0131-a594-4df8-859c-597b494c14ce" providerId="ADAL" clId="{EC049AEA-2551-45F3-A5A5-8D13A73FB2A9}" dt="2026-10-07T09:17:33.052" v="291" actId="790"/>
        <pc:sldMkLst>
          <pc:docMk/>
          <pc:sldMk cId="0" sldId="263"/>
        </pc:sldMkLst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3"/>
            <ac:spMk id="3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3"/>
            <ac:spMk id="4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3"/>
            <ac:spMk id="5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3"/>
            <ac:spMk id="6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3"/>
            <ac:spMk id="7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0:30.589" v="101" actId="2057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3"/>
            <ac:spMk id="12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3"/>
            <ac:spMk id="14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3"/>
            <ac:spMk id="15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3"/>
            <ac:spMk id="16" creationId="{00000000-0000-0000-0000-000000000000}"/>
          </ac:spMkLst>
        </pc:spChg>
        <pc:spChg chg="del">
          <ac:chgData name="MOCELLIN MARCOMATTIA" userId="b10b0131-a594-4df8-859c-597b494c14ce" providerId="ADAL" clId="{EC049AEA-2551-45F3-A5A5-8D13A73FB2A9}" dt="2026-10-07T09:11:50.521" v="102" actId="478"/>
          <ac:spMkLst>
            <pc:docMk/>
            <pc:sldMk cId="0" sldId="263"/>
            <ac:spMk id="20" creationId="{00000000-0000-0000-0000-000000000000}"/>
          </ac:spMkLst>
        </pc:spChg>
        <pc:spChg chg="del">
          <ac:chgData name="MOCELLIN MARCOMATTIA" userId="b10b0131-a594-4df8-859c-597b494c14ce" providerId="ADAL" clId="{EC049AEA-2551-45F3-A5A5-8D13A73FB2A9}" dt="2026-10-07T09:11:52.289" v="103" actId="478"/>
          <ac:spMkLst>
            <pc:docMk/>
            <pc:sldMk cId="0" sldId="263"/>
            <ac:spMk id="21" creationId="{00000000-0000-0000-0000-000000000000}"/>
          </ac:spMkLst>
        </pc:spChg>
        <pc:spChg chg="del">
          <ac:chgData name="MOCELLIN MARCOMATTIA" userId="b10b0131-a594-4df8-859c-597b494c14ce" providerId="ADAL" clId="{EC049AEA-2551-45F3-A5A5-8D13A73FB2A9}" dt="2026-10-07T09:11:54.165" v="104" actId="478"/>
          <ac:spMkLst>
            <pc:docMk/>
            <pc:sldMk cId="0" sldId="263"/>
            <ac:spMk id="22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3"/>
            <ac:spMk id="24" creationId="{00000000-0000-0000-0000-000000000000}"/>
          </ac:spMkLst>
        </pc:spChg>
      </pc:sldChg>
      <pc:sldChg chg="modSp mod">
        <pc:chgData name="MOCELLIN MARCOMATTIA" userId="b10b0131-a594-4df8-859c-597b494c14ce" providerId="ADAL" clId="{EC049AEA-2551-45F3-A5A5-8D13A73FB2A9}" dt="2026-10-07T09:17:33.052" v="291" actId="790"/>
        <pc:sldMkLst>
          <pc:docMk/>
          <pc:sldMk cId="0" sldId="264"/>
        </pc:sldMkLst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4"/>
            <ac:spMk id="4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4"/>
            <ac:spMk id="6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4"/>
            <ac:spMk id="15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4"/>
            <ac:spMk id="16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4"/>
            <ac:spMk id="17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4"/>
            <ac:spMk id="22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4"/>
            <ac:spMk id="24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4"/>
            <ac:spMk id="26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4"/>
            <ac:spMk id="32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4"/>
            <ac:spMk id="36" creationId="{00000000-0000-0000-0000-000000000000}"/>
          </ac:spMkLst>
        </pc:spChg>
      </pc:sldChg>
      <pc:sldChg chg="modSp mod">
        <pc:chgData name="MOCELLIN MARCOMATTIA" userId="b10b0131-a594-4df8-859c-597b494c14ce" providerId="ADAL" clId="{EC049AEA-2551-45F3-A5A5-8D13A73FB2A9}" dt="2026-10-07T09:17:33.052" v="291" actId="790"/>
        <pc:sldMkLst>
          <pc:docMk/>
          <pc:sldMk cId="0" sldId="265"/>
        </pc:sldMkLst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5"/>
            <ac:spMk id="3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5"/>
            <ac:spMk id="8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5"/>
            <ac:spMk id="10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5"/>
            <ac:spMk id="15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5"/>
            <ac:spMk id="16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5"/>
            <ac:spMk id="22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5"/>
            <ac:spMk id="23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5"/>
            <ac:spMk id="27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5"/>
            <ac:spMk id="28" creationId="{00000000-0000-0000-0000-000000000000}"/>
          </ac:spMkLst>
        </pc:spChg>
      </pc:sldChg>
      <pc:sldChg chg="delSp modSp mod setBg">
        <pc:chgData name="MOCELLIN MARCOMATTIA" userId="b10b0131-a594-4df8-859c-597b494c14ce" providerId="ADAL" clId="{EC049AEA-2551-45F3-A5A5-8D13A73FB2A9}" dt="2026-10-07T09:57:29.490" v="517" actId="20577"/>
        <pc:sldMkLst>
          <pc:docMk/>
          <pc:sldMk cId="0" sldId="266"/>
        </pc:sldMkLst>
        <pc:spChg chg="del">
          <ac:chgData name="MOCELLIN MARCOMATTIA" userId="b10b0131-a594-4df8-859c-597b494c14ce" providerId="ADAL" clId="{EC049AEA-2551-45F3-A5A5-8D13A73FB2A9}" dt="2026-10-07T09:13:47.642" v="165" actId="478"/>
          <ac:spMkLst>
            <pc:docMk/>
            <pc:sldMk cId="0" sldId="266"/>
            <ac:spMk id="2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6"/>
            <ac:spMk id="3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6"/>
            <ac:spMk id="4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6"/>
            <ac:spMk id="5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6"/>
            <ac:spMk id="6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6"/>
            <ac:spMk id="7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6"/>
            <ac:spMk id="11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6"/>
            <ac:spMk id="12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6"/>
            <ac:spMk id="13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6"/>
            <ac:spMk id="16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57:29.490" v="517" actId="20577"/>
          <ac:spMkLst>
            <pc:docMk/>
            <pc:sldMk cId="0" sldId="266"/>
            <ac:spMk id="18" creationId="{00000000-0000-0000-0000-000000000000}"/>
          </ac:spMkLst>
        </pc:spChg>
        <pc:spChg chg="mod">
          <ac:chgData name="MOCELLIN MARCOMATTIA" userId="b10b0131-a594-4df8-859c-597b494c14ce" providerId="ADAL" clId="{EC049AEA-2551-45F3-A5A5-8D13A73FB2A9}" dt="2026-10-07T09:17:33.052" v="291" actId="790"/>
          <ac:spMkLst>
            <pc:docMk/>
            <pc:sldMk cId="0" sldId="266"/>
            <ac:spMk id="19" creationId="{00000000-0000-0000-0000-000000000000}"/>
          </ac:spMkLst>
        </pc:spChg>
      </pc:sldChg>
      <pc:sldChg chg="delSp modSp add del mod setBg modClrScheme chgLayout">
        <pc:chgData name="MOCELLIN MARCOMATTIA" userId="b10b0131-a594-4df8-859c-597b494c14ce" providerId="ADAL" clId="{EC049AEA-2551-45F3-A5A5-8D13A73FB2A9}" dt="2026-10-07T09:57:12.994" v="516" actId="47"/>
        <pc:sldMkLst>
          <pc:docMk/>
          <pc:sldMk cId="3419253290" sldId="374"/>
        </pc:sldMkLst>
        <pc:spChg chg="mod ord">
          <ac:chgData name="MOCELLIN MARCOMATTIA" userId="b10b0131-a594-4df8-859c-597b494c14ce" providerId="ADAL" clId="{EC049AEA-2551-45F3-A5A5-8D13A73FB2A9}" dt="2026-10-07T09:17:59.970" v="343" actId="1076"/>
          <ac:spMkLst>
            <pc:docMk/>
            <pc:sldMk cId="3419253290" sldId="374"/>
            <ac:spMk id="3" creationId="{DDC49562-0E2C-4B79-96E6-226FCFED10BC}"/>
          </ac:spMkLst>
        </pc:spChg>
        <pc:spChg chg="del mod ord">
          <ac:chgData name="MOCELLIN MARCOMATTIA" userId="b10b0131-a594-4df8-859c-597b494c14ce" providerId="ADAL" clId="{EC049AEA-2551-45F3-A5A5-8D13A73FB2A9}" dt="2026-10-07T09:17:41.427" v="295" actId="478"/>
          <ac:spMkLst>
            <pc:docMk/>
            <pc:sldMk cId="3419253290" sldId="374"/>
            <ac:spMk id="6" creationId="{7AEA0483-AA0E-436C-97DA-7F63EA06F79E}"/>
          </ac:spMkLst>
        </pc:spChg>
        <pc:spChg chg="del mod ord">
          <ac:chgData name="MOCELLIN MARCOMATTIA" userId="b10b0131-a594-4df8-859c-597b494c14ce" providerId="ADAL" clId="{EC049AEA-2551-45F3-A5A5-8D13A73FB2A9}" dt="2026-10-07T09:16:41.912" v="214" actId="478"/>
          <ac:spMkLst>
            <pc:docMk/>
            <pc:sldMk cId="3419253290" sldId="374"/>
            <ac:spMk id="7" creationId="{B87CEE11-2CD7-4B42-B670-7AE9C1CE750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7485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Final Slide + Contac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>
            <a:extLst>
              <a:ext uri="{FF2B5EF4-FFF2-40B4-BE49-F238E27FC236}">
                <a16:creationId xmlns:a16="http://schemas.microsoft.com/office/drawing/2014/main" id="{F5725943-76F3-4D6D-A7F0-9A61066ADB5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4375" y="1728000"/>
            <a:ext cx="15347200" cy="2356800"/>
          </a:xfrm>
        </p:spPr>
        <p:txBody>
          <a:bodyPr tIns="46800" bIns="46800">
            <a:normAutofit/>
          </a:bodyPr>
          <a:lstStyle>
            <a:lvl1pPr algn="l">
              <a:lnSpc>
                <a:spcPct val="100000"/>
              </a:lnSpc>
              <a:defRPr sz="7822" cap="none" baseline="0">
                <a:solidFill>
                  <a:schemeClr val="bg1"/>
                </a:solidFill>
                <a:latin typeface="voestalpine Light" panose="020B0300030000000000" pitchFamily="34" charset="0"/>
              </a:defRPr>
            </a:lvl1pPr>
          </a:lstStyle>
          <a:p>
            <a:br>
              <a:rPr lang="de-DE" noProof="0" dirty="0"/>
            </a:br>
            <a:r>
              <a:rPr lang="de-DE" noProof="0" dirty="0"/>
              <a:t>THANK YOU!</a:t>
            </a:r>
            <a:endParaRPr lang="de-AT" noProof="0" dirty="0"/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F8128E50-A775-4C88-AD75-AC468301E41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5316" y="4346745"/>
            <a:ext cx="15347200" cy="1472000"/>
          </a:xfrm>
          <a:prstGeom prst="rect">
            <a:avLst/>
          </a:prstGeom>
        </p:spPr>
        <p:txBody>
          <a:bodyPr lIns="0" tIns="46800" bIns="46800">
            <a:normAutofit/>
          </a:bodyPr>
          <a:lstStyle>
            <a:lvl1pPr marL="0" indent="0" algn="l">
              <a:spcAft>
                <a:spcPts val="0"/>
              </a:spcAft>
              <a:buNone/>
              <a:defRPr sz="2844">
                <a:solidFill>
                  <a:schemeClr val="bg1"/>
                </a:solidFill>
                <a:latin typeface="voestalpine Light" panose="020B0300030000000000" pitchFamily="34" charset="0"/>
              </a:defRPr>
            </a:lvl1pPr>
            <a:lvl2pPr marL="812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5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8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51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4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68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89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02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First name last name, 16 pt</a:t>
            </a:r>
          </a:p>
          <a:p>
            <a:r>
              <a:rPr lang="en-US" noProof="0" dirty="0"/>
              <a:t>firstname.lastname@voestalpine.com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BA945108-8FB0-4994-A119-4850231A91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379" y="5920000"/>
            <a:ext cx="11132537" cy="3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5000"/>
              </a:lnSpc>
              <a:spcAft>
                <a:spcPts val="0"/>
              </a:spcAft>
              <a:buNone/>
              <a:defRPr lang="de-DE" sz="1956" b="0" kern="1200" dirty="0" smtClean="0">
                <a:solidFill>
                  <a:schemeClr val="bg1"/>
                </a:solidFill>
                <a:latin typeface="voestalpine Light" panose="020B0300030000000000" pitchFamily="34" charset="0"/>
                <a:ea typeface="+mn-ea"/>
                <a:cs typeface="+mn-cs"/>
              </a:defRPr>
            </a:lvl1pPr>
            <a:lvl2pPr marL="0" indent="0">
              <a:buNone/>
              <a:defRPr lang="de-DE" sz="1778" b="0" kern="1200" dirty="0" smtClean="0">
                <a:solidFill>
                  <a:schemeClr val="bg1"/>
                </a:solidFill>
                <a:latin typeface="voestalpine" panose="020B0500030000000000" pitchFamily="34" charset="0"/>
                <a:ea typeface="+mn-ea"/>
                <a:cs typeface="+mn-cs"/>
              </a:defRPr>
            </a:lvl2pPr>
            <a:lvl3pPr marL="0" indent="0">
              <a:defRPr lang="de-DE" sz="1778" b="0" kern="1200" dirty="0" smtClean="0">
                <a:solidFill>
                  <a:schemeClr val="bg1"/>
                </a:solidFill>
                <a:latin typeface="voestalpine" panose="020B0500030000000000" pitchFamily="34" charset="0"/>
                <a:ea typeface="+mn-ea"/>
                <a:cs typeface="+mn-cs"/>
              </a:defRPr>
            </a:lvl3pPr>
            <a:lvl4pPr marL="0" indent="0">
              <a:defRPr lang="de-DE" sz="1778" b="0" kern="1200" dirty="0" smtClean="0">
                <a:solidFill>
                  <a:schemeClr val="bg1"/>
                </a:solidFill>
                <a:latin typeface="voestalpine" panose="020B0500030000000000" pitchFamily="34" charset="0"/>
                <a:ea typeface="+mn-ea"/>
                <a:cs typeface="+mn-cs"/>
              </a:defRPr>
            </a:lvl4pPr>
            <a:lvl5pPr marL="0" indent="0">
              <a:defRPr lang="de-AT" sz="1778" b="0" kern="1200" dirty="0">
                <a:solidFill>
                  <a:schemeClr val="bg1"/>
                </a:solidFill>
                <a:latin typeface="voestalpine" panose="020B0500030000000000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sz="1956" dirty="0"/>
              <a:t>Confidentiality: Please select—Strictly Confidential, Confidential, Public </a:t>
            </a:r>
            <a:r>
              <a:rPr lang="en-US" sz="1956" dirty="0" err="1"/>
              <a:t>oder</a:t>
            </a:r>
            <a:r>
              <a:rPr lang="en-US" sz="1956" dirty="0"/>
              <a:t> Internal</a:t>
            </a:r>
          </a:p>
        </p:txBody>
      </p:sp>
      <p:cxnSp>
        <p:nvCxnSpPr>
          <p:cNvPr id="21" name="Gerade Verbindung 8">
            <a:extLst>
              <a:ext uri="{FF2B5EF4-FFF2-40B4-BE49-F238E27FC236}">
                <a16:creationId xmlns:a16="http://schemas.microsoft.com/office/drawing/2014/main" id="{CE6C5FFE-D79B-4569-8987-97AF2C63CBC2}"/>
              </a:ext>
            </a:extLst>
          </p:cNvPr>
          <p:cNvCxnSpPr/>
          <p:nvPr userDrawn="1"/>
        </p:nvCxnSpPr>
        <p:spPr>
          <a:xfrm>
            <a:off x="455095" y="4076800"/>
            <a:ext cx="15353600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F59B1E75-4B2D-A57D-6F5D-264483B1BA7B}"/>
              </a:ext>
            </a:extLst>
          </p:cNvPr>
          <p:cNvGrpSpPr/>
          <p:nvPr userDrawn="1"/>
        </p:nvGrpSpPr>
        <p:grpSpPr>
          <a:xfrm>
            <a:off x="-99346" y="5977601"/>
            <a:ext cx="16384000" cy="3173548"/>
            <a:chOff x="-55882" y="3373120"/>
            <a:chExt cx="9216000" cy="1785121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F6C5C34C-EB59-BF5F-E08C-181ACFB7229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329"/>
            <a:stretch/>
          </p:blipFill>
          <p:spPr>
            <a:xfrm>
              <a:off x="-55882" y="3373120"/>
              <a:ext cx="9216000" cy="1785121"/>
            </a:xfrm>
            <a:prstGeom prst="rect">
              <a:avLst/>
            </a:prstGeom>
          </p:spPr>
        </p:pic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1A4A083A-403D-AC08-6E82-E829964BB31F}"/>
                </a:ext>
              </a:extLst>
            </p:cNvPr>
            <p:cNvSpPr txBox="1"/>
            <p:nvPr userDrawn="1"/>
          </p:nvSpPr>
          <p:spPr>
            <a:xfrm>
              <a:off x="256115" y="4745303"/>
              <a:ext cx="5029247" cy="15390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AT" sz="1778" b="0" noProof="0" dirty="0">
                  <a:solidFill>
                    <a:schemeClr val="tx1"/>
                  </a:solidFill>
                  <a:latin typeface="voestalpine" panose="020B0500030000000000" pitchFamily="34" charset="0"/>
                </a:rPr>
                <a:t>www.voestalpine.com</a:t>
              </a:r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5455D5E0-D8FE-41DE-793C-33071B65CAF9}"/>
                </a:ext>
              </a:extLst>
            </p:cNvPr>
            <p:cNvSpPr txBox="1"/>
            <p:nvPr userDrawn="1"/>
          </p:nvSpPr>
          <p:spPr>
            <a:xfrm>
              <a:off x="256115" y="4577518"/>
              <a:ext cx="5029247" cy="15390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AT" sz="1778" b="1" noProof="0" dirty="0">
                  <a:solidFill>
                    <a:schemeClr val="tx1"/>
                  </a:solidFill>
                  <a:latin typeface="voestalpine" panose="020B0500030000000000" pitchFamily="34" charset="0"/>
                </a:rPr>
                <a:t>voestalpine Böhler Welding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3991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line"/>
          <p:cNvSpPr/>
          <p:nvPr/>
        </p:nvSpPr>
        <p:spPr>
          <a:xfrm>
            <a:off x="762000" y="939800"/>
            <a:ext cx="101600" cy="5791200"/>
          </a:xfrm>
          <a:prstGeom prst="rect">
            <a:avLst/>
          </a:prstGeom>
          <a:solidFill>
            <a:srgbClr val="0055FF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3" name="cover-rule"/>
          <p:cNvSpPr/>
          <p:nvPr/>
        </p:nvSpPr>
        <p:spPr>
          <a:xfrm>
            <a:off x="1168400" y="1270000"/>
            <a:ext cx="6223000" cy="9144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4" name="cover-kicker"/>
          <p:cNvSpPr/>
          <p:nvPr/>
        </p:nvSpPr>
        <p:spPr>
          <a:xfrm>
            <a:off x="1168400" y="914400"/>
            <a:ext cx="711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/ CANDIDATE PRESENTATION</a:t>
            </a:r>
            <a:endParaRPr lang="it-IT" sz="1400" noProof="0" dirty="0"/>
          </a:p>
        </p:txBody>
      </p:sp>
      <p:sp>
        <p:nvSpPr>
          <p:cNvPr id="5" name="cover-title"/>
          <p:cNvSpPr/>
          <p:nvPr/>
        </p:nvSpPr>
        <p:spPr>
          <a:xfrm>
            <a:off x="1168400" y="1854200"/>
            <a:ext cx="109220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16"/>
              </a:lnSpc>
              <a:buNone/>
            </a:pPr>
            <a:r>
              <a:rPr lang="it-IT" sz="52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Sistema di Test</a:t>
            </a:r>
            <a:endParaRPr lang="it-IT" sz="5200" noProof="0" dirty="0"/>
          </a:p>
          <a:p>
            <a:pPr marL="0" indent="0" algn="l">
              <a:lnSpc>
                <a:spcPts val="5616"/>
              </a:lnSpc>
              <a:buNone/>
            </a:pPr>
            <a:r>
              <a:rPr lang="it-IT" sz="52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 Ricarica DC</a:t>
            </a:r>
            <a:endParaRPr lang="it-IT" sz="5200" noProof="0" dirty="0"/>
          </a:p>
        </p:txBody>
      </p:sp>
      <p:sp>
        <p:nvSpPr>
          <p:cNvPr id="6" name="cover-subtitle"/>
          <p:cNvSpPr/>
          <p:nvPr/>
        </p:nvSpPr>
        <p:spPr>
          <a:xfrm>
            <a:off x="1219200" y="3937000"/>
            <a:ext cx="965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C9D5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C# / .NET · </a:t>
            </a:r>
            <a:r>
              <a:rPr lang="it-IT" sz="2400" noProof="0" dirty="0" err="1">
                <a:solidFill>
                  <a:srgbClr val="C9D5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WinUI</a:t>
            </a:r>
            <a:r>
              <a:rPr lang="it-IT" sz="2400" noProof="0" dirty="0">
                <a:solidFill>
                  <a:srgbClr val="C9D5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3 · MVVM · MES REST</a:t>
            </a:r>
            <a:endParaRPr lang="it-IT" sz="2400" noProof="0" dirty="0"/>
          </a:p>
        </p:txBody>
      </p:sp>
      <p:sp>
        <p:nvSpPr>
          <p:cNvPr id="7" name="cover-chip"/>
          <p:cNvSpPr/>
          <p:nvPr/>
        </p:nvSpPr>
        <p:spPr>
          <a:xfrm>
            <a:off x="1219200" y="5105400"/>
            <a:ext cx="4000982" cy="533400"/>
          </a:xfrm>
          <a:prstGeom prst="roundRect">
            <a:avLst>
              <a:gd name="adj" fmla="val 9524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33000"/>
              </a:srgbClr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8" name="cover-chip-text"/>
          <p:cNvSpPr/>
          <p:nvPr/>
        </p:nvSpPr>
        <p:spPr>
          <a:xfrm>
            <a:off x="1422400" y="5232400"/>
            <a:ext cx="355471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it-IT" sz="1400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ARCHITETTURA · QUALITÀ · ROADMAP</a:t>
            </a:r>
            <a:endParaRPr lang="it-IT" sz="1400" noProof="0" dirty="0"/>
          </a:p>
        </p:txBody>
      </p:sp>
      <p:sp>
        <p:nvSpPr>
          <p:cNvPr id="9" name="cover-name"/>
          <p:cNvSpPr/>
          <p:nvPr/>
        </p:nvSpPr>
        <p:spPr>
          <a:xfrm>
            <a:off x="1219200" y="7112000"/>
            <a:ext cx="889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Marcomattia Mocellin</a:t>
            </a:r>
            <a:endParaRPr lang="it-IT" sz="2400" noProof="0" dirty="0"/>
          </a:p>
        </p:txBody>
      </p:sp>
      <p:sp>
        <p:nvSpPr>
          <p:cNvPr id="10" name="cover-role"/>
          <p:cNvSpPr/>
          <p:nvPr/>
        </p:nvSpPr>
        <p:spPr>
          <a:xfrm>
            <a:off x="1219200" y="7645400"/>
            <a:ext cx="1041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noProof="0" dirty="0">
                <a:solidFill>
                  <a:srgbClr val="C9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 Software Engineer · Technical Lead · Software Architect</a:t>
            </a:r>
            <a:endParaRPr lang="it-IT" sz="1800" noProof="0" dirty="0"/>
          </a:p>
        </p:txBody>
      </p:sp>
      <p:sp>
        <p:nvSpPr>
          <p:cNvPr id="11" name="cover-page"/>
          <p:cNvSpPr/>
          <p:nvPr/>
        </p:nvSpPr>
        <p:spPr>
          <a:xfrm>
            <a:off x="13716000" y="8559800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it-IT" sz="1400" noProof="0" dirty="0">
                <a:solidFill>
                  <a:srgbClr val="C9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11</a:t>
            </a:r>
            <a:endParaRPr lang="it-IT" sz="1400" noProof="0" dirty="0"/>
          </a:p>
        </p:txBody>
      </p:sp>
      <p:sp>
        <p:nvSpPr>
          <p:cNvPr id="12" name="cover-register"/>
          <p:cNvSpPr/>
          <p:nvPr/>
        </p:nvSpPr>
        <p:spPr>
          <a:xfrm>
            <a:off x="15621000" y="8458200"/>
            <a:ext cx="190500" cy="190500"/>
          </a:xfrm>
          <a:prstGeom prst="rect">
            <a:avLst/>
          </a:prstGeom>
          <a:ln w="12700">
            <a:solidFill>
              <a:srgbClr val="0055FF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/>
          <p:nvPr/>
        </p:nvSpPr>
        <p:spPr>
          <a:xfrm>
            <a:off x="762000" y="3556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PROFILO</a:t>
            </a:r>
            <a:endParaRPr lang="it-IT" sz="1400" noProof="0" dirty="0"/>
          </a:p>
        </p:txBody>
      </p:sp>
      <p:sp>
        <p:nvSpPr>
          <p:cNvPr id="3" name="title"/>
          <p:cNvSpPr/>
          <p:nvPr/>
        </p:nvSpPr>
        <p:spPr>
          <a:xfrm>
            <a:off x="762000" y="863600"/>
            <a:ext cx="1176180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3200" noProof="0" dirty="0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 profilo costruito tra software industriale e integrazione</a:t>
            </a:r>
            <a:endParaRPr lang="it-IT" sz="3200" noProof="0" dirty="0"/>
          </a:p>
        </p:txBody>
      </p:sp>
      <p:sp>
        <p:nvSpPr>
          <p:cNvPr id="4" name="title-rule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5" name="profile-card"/>
          <p:cNvSpPr/>
          <p:nvPr/>
        </p:nvSpPr>
        <p:spPr>
          <a:xfrm>
            <a:off x="762000" y="2184400"/>
            <a:ext cx="8305800" cy="497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6" name="profile-label"/>
          <p:cNvSpPr/>
          <p:nvPr/>
        </p:nvSpPr>
        <p:spPr>
          <a:xfrm>
            <a:off x="1117600" y="2565400"/>
            <a:ext cx="508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OVERVIEW</a:t>
            </a:r>
            <a:endParaRPr lang="it-IT" sz="1400" noProof="0" dirty="0"/>
          </a:p>
        </p:txBody>
      </p:sp>
      <p:sp>
        <p:nvSpPr>
          <p:cNvPr id="7" name="profile-copy"/>
          <p:cNvSpPr/>
          <p:nvPr/>
        </p:nvSpPr>
        <p:spPr>
          <a:xfrm>
            <a:off x="1117600" y="3124200"/>
            <a:ext cx="7340600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 Software Engineer e Technical Lead con </a:t>
            </a:r>
            <a:r>
              <a:rPr lang="it-IT" sz="1800" b="1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oltre 10 anni</a:t>
            </a: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 esperienza in software industriale, sistemi embedded, elettronica, metrologia e Industry 4.0.</a:t>
            </a:r>
            <a:endParaRPr lang="it-IT" sz="1800" noProof="0" dirty="0"/>
          </a:p>
          <a:p>
            <a:pPr marL="0" indent="0" algn="l">
              <a:lnSpc>
                <a:spcPts val="2430"/>
              </a:lnSpc>
              <a:spcBef>
                <a:spcPts val="1800"/>
              </a:spcBef>
              <a:buNone/>
            </a:pP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Competenze rilevanti per il case study:</a:t>
            </a:r>
            <a:endParaRPr lang="it-IT" sz="1800" noProof="0" dirty="0"/>
          </a:p>
          <a:p>
            <a:pPr marL="285750" indent="-285750" algn="l">
              <a:lnSpc>
                <a:spcPts val="2430"/>
              </a:lnSpc>
              <a:spcBef>
                <a:spcPts val="10"/>
              </a:spcBef>
              <a:buSzPct val="100000"/>
              <a:buChar char="•"/>
            </a:pP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Architettura software C# / .NET e principi SOLID</a:t>
            </a:r>
            <a:endParaRPr lang="it-IT" sz="1800" noProof="0" dirty="0"/>
          </a:p>
          <a:p>
            <a:pPr marL="285750" indent="-285750" algn="l">
              <a:lnSpc>
                <a:spcPts val="2430"/>
              </a:lnSpc>
              <a:spcBef>
                <a:spcPts val="10"/>
              </a:spcBef>
              <a:buSzPct val="100000"/>
              <a:buChar char="•"/>
            </a:pP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MES, REST API, CAN Bus, MQTT e connettività industriale</a:t>
            </a:r>
            <a:endParaRPr lang="it-IT" sz="1800" noProof="0" dirty="0"/>
          </a:p>
          <a:p>
            <a:pPr marL="285750" indent="-285750" algn="l">
              <a:lnSpc>
                <a:spcPts val="2430"/>
              </a:lnSpc>
              <a:spcBef>
                <a:spcPts val="10"/>
              </a:spcBef>
              <a:buSzPct val="100000"/>
              <a:buChar char="•"/>
            </a:pP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Coordinamento tra software, hardware, firmware e validazione sul campo</a:t>
            </a:r>
            <a:endParaRPr lang="it-IT" sz="1800" noProof="0" dirty="0"/>
          </a:p>
        </p:txBody>
      </p:sp>
      <p:sp>
        <p:nvSpPr>
          <p:cNvPr id="9" name="metric-1"/>
          <p:cNvSpPr/>
          <p:nvPr/>
        </p:nvSpPr>
        <p:spPr>
          <a:xfrm>
            <a:off x="9626600" y="2184400"/>
            <a:ext cx="5867400" cy="1422400"/>
          </a:xfrm>
          <a:prstGeom prst="rect">
            <a:avLst/>
          </a:prstGeom>
          <a:solidFill>
            <a:srgbClr val="0B192C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metric-1a"/>
          <p:cNvSpPr/>
          <p:nvPr/>
        </p:nvSpPr>
        <p:spPr>
          <a:xfrm>
            <a:off x="9982200" y="2451100"/>
            <a:ext cx="508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36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10+ anni</a:t>
            </a:r>
            <a:endParaRPr lang="it-IT" sz="3600" noProof="0" dirty="0"/>
          </a:p>
        </p:txBody>
      </p:sp>
      <p:sp>
        <p:nvSpPr>
          <p:cNvPr id="11" name="metric-1b"/>
          <p:cNvSpPr/>
          <p:nvPr/>
        </p:nvSpPr>
        <p:spPr>
          <a:xfrm>
            <a:off x="10007600" y="3098800"/>
            <a:ext cx="495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C9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industriale · embedded · metrologia</a:t>
            </a:r>
            <a:endParaRPr lang="it-IT" sz="1400" noProof="0" dirty="0"/>
          </a:p>
        </p:txBody>
      </p:sp>
      <p:sp>
        <p:nvSpPr>
          <p:cNvPr id="12" name="metric-2"/>
          <p:cNvSpPr/>
          <p:nvPr/>
        </p:nvSpPr>
        <p:spPr>
          <a:xfrm>
            <a:off x="9626600" y="3937000"/>
            <a:ext cx="2794000" cy="149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3" name="metric-2a"/>
          <p:cNvSpPr/>
          <p:nvPr/>
        </p:nvSpPr>
        <p:spPr>
          <a:xfrm>
            <a:off x="9931400" y="4279900"/>
            <a:ext cx="215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00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C# / .NET</a:t>
            </a:r>
            <a:endParaRPr lang="it-IT" sz="2400" noProof="0" dirty="0"/>
          </a:p>
        </p:txBody>
      </p:sp>
      <p:sp>
        <p:nvSpPr>
          <p:cNvPr id="14" name="metric-2b"/>
          <p:cNvSpPr/>
          <p:nvPr/>
        </p:nvSpPr>
        <p:spPr>
          <a:xfrm>
            <a:off x="9931400" y="47752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architettura</a:t>
            </a:r>
            <a:endParaRPr lang="it-IT" sz="1400" noProof="0" dirty="0"/>
          </a:p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modernizzazione</a:t>
            </a:r>
            <a:endParaRPr lang="it-IT" sz="1400" noProof="0" dirty="0"/>
          </a:p>
        </p:txBody>
      </p:sp>
      <p:sp>
        <p:nvSpPr>
          <p:cNvPr id="15" name="metric-3"/>
          <p:cNvSpPr/>
          <p:nvPr/>
        </p:nvSpPr>
        <p:spPr>
          <a:xfrm>
            <a:off x="12700000" y="3937000"/>
            <a:ext cx="2794000" cy="149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6" name="metric-3a"/>
          <p:cNvSpPr/>
          <p:nvPr/>
        </p:nvSpPr>
        <p:spPr>
          <a:xfrm>
            <a:off x="13004800" y="4279900"/>
            <a:ext cx="215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006D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Industry 4.0</a:t>
            </a:r>
            <a:endParaRPr lang="it-IT" sz="2400" noProof="0" dirty="0"/>
          </a:p>
        </p:txBody>
      </p:sp>
      <p:sp>
        <p:nvSpPr>
          <p:cNvPr id="17" name="metric-3b"/>
          <p:cNvSpPr/>
          <p:nvPr/>
        </p:nvSpPr>
        <p:spPr>
          <a:xfrm>
            <a:off x="13004800" y="47752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piattaforme</a:t>
            </a:r>
            <a:endParaRPr lang="it-IT" sz="1400" noProof="0" dirty="0"/>
          </a:p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integrazione</a:t>
            </a:r>
            <a:endParaRPr lang="it-IT" sz="1400" noProof="0" dirty="0"/>
          </a:p>
        </p:txBody>
      </p:sp>
      <p:sp>
        <p:nvSpPr>
          <p:cNvPr id="18" name="metric-4"/>
          <p:cNvSpPr/>
          <p:nvPr/>
        </p:nvSpPr>
        <p:spPr>
          <a:xfrm>
            <a:off x="9626600" y="5765800"/>
            <a:ext cx="5867400" cy="1397000"/>
          </a:xfrm>
          <a:prstGeom prst="rect">
            <a:avLst/>
          </a:prstGeom>
          <a:solidFill>
            <a:srgbClr val="EAF7F6"/>
          </a:solidFill>
          <a:ln w="127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9" name="metric-4a"/>
          <p:cNvSpPr/>
          <p:nvPr/>
        </p:nvSpPr>
        <p:spPr>
          <a:xfrm>
            <a:off x="9982200" y="6096000"/>
            <a:ext cx="469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006D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Approccio di lavoro</a:t>
            </a:r>
            <a:endParaRPr lang="it-IT" sz="2400" noProof="0" dirty="0"/>
          </a:p>
        </p:txBody>
      </p:sp>
      <p:sp>
        <p:nvSpPr>
          <p:cNvPr id="20" name="metric-4b"/>
          <p:cNvSpPr/>
          <p:nvPr/>
        </p:nvSpPr>
        <p:spPr>
          <a:xfrm>
            <a:off x="9982200" y="6578600"/>
            <a:ext cx="495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dalla specifica alla validazione sul campo</a:t>
            </a:r>
            <a:endParaRPr lang="it-IT" sz="1800" noProof="0" dirty="0"/>
          </a:p>
        </p:txBody>
      </p:sp>
      <p:sp>
        <p:nvSpPr>
          <p:cNvPr id="21" name="footer"/>
          <p:cNvSpPr/>
          <p:nvPr/>
        </p:nvSpPr>
        <p:spPr>
          <a:xfrm>
            <a:off x="762000" y="85852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 Charging Test System · Case study</a:t>
            </a:r>
            <a:endParaRPr lang="it-IT" sz="1400" noProof="0" dirty="0"/>
          </a:p>
        </p:txBody>
      </p:sp>
      <p:sp>
        <p:nvSpPr>
          <p:cNvPr id="22" name="page"/>
          <p:cNvSpPr/>
          <p:nvPr/>
        </p:nvSpPr>
        <p:spPr>
          <a:xfrm>
            <a:off x="13716000" y="8585200"/>
            <a:ext cx="177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11</a:t>
            </a:r>
            <a:endParaRPr lang="it-IT" sz="1400" noProof="0" dirty="0"/>
          </a:p>
        </p:txBody>
      </p:sp>
      <p:sp>
        <p:nvSpPr>
          <p:cNvPr id="23" name="register"/>
          <p:cNvSpPr/>
          <p:nvPr/>
        </p:nvSpPr>
        <p:spPr>
          <a:xfrm>
            <a:off x="15303500" y="330200"/>
            <a:ext cx="190500" cy="190500"/>
          </a:xfrm>
          <a:prstGeom prst="rect">
            <a:avLst/>
          </a:prstGeom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/>
          <p:nvPr/>
        </p:nvSpPr>
        <p:spPr>
          <a:xfrm>
            <a:off x="762000" y="3556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ESPERIENZA RILEVANTE</a:t>
            </a:r>
            <a:endParaRPr lang="it-IT" sz="1400" noProof="0" dirty="0"/>
          </a:p>
        </p:txBody>
      </p:sp>
      <p:sp>
        <p:nvSpPr>
          <p:cNvPr id="3" name="title"/>
          <p:cNvSpPr/>
          <p:nvPr/>
        </p:nvSpPr>
        <p:spPr>
          <a:xfrm>
            <a:off x="762000" y="863600"/>
            <a:ext cx="1092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3200" noProof="0" dirty="0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Esperienza trasferibile al contesto di un test system</a:t>
            </a:r>
            <a:endParaRPr lang="it-IT" sz="3200" noProof="0" dirty="0"/>
          </a:p>
        </p:txBody>
      </p:sp>
      <p:sp>
        <p:nvSpPr>
          <p:cNvPr id="4" name="title-rule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5" name="timeline"/>
          <p:cNvSpPr/>
          <p:nvPr/>
        </p:nvSpPr>
        <p:spPr>
          <a:xfrm>
            <a:off x="1676400" y="3530600"/>
            <a:ext cx="12903200" cy="9144"/>
          </a:xfrm>
          <a:prstGeom prst="line">
            <a:avLst/>
          </a:prstGeom>
          <a:ln w="254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6" name="dot-a"/>
          <p:cNvSpPr/>
          <p:nvPr/>
        </p:nvSpPr>
        <p:spPr>
          <a:xfrm>
            <a:off x="2870200" y="3340100"/>
            <a:ext cx="381000" cy="3810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7" name="dot-b"/>
          <p:cNvSpPr/>
          <p:nvPr/>
        </p:nvSpPr>
        <p:spPr>
          <a:xfrm>
            <a:off x="11658600" y="3340100"/>
            <a:ext cx="381000" cy="381000"/>
          </a:xfrm>
          <a:prstGeom prst="ellipse">
            <a:avLst/>
          </a:prstGeom>
          <a:solidFill>
            <a:srgbClr val="0055FF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8" name="year-a"/>
          <p:cNvSpPr/>
          <p:nvPr/>
        </p:nvSpPr>
        <p:spPr>
          <a:xfrm>
            <a:off x="1651000" y="2667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006D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2016 — 2020</a:t>
            </a:r>
            <a:endParaRPr lang="it-IT" sz="2400" noProof="0" dirty="0"/>
          </a:p>
        </p:txBody>
      </p:sp>
      <p:sp>
        <p:nvSpPr>
          <p:cNvPr id="9" name="year-b"/>
          <p:cNvSpPr/>
          <p:nvPr/>
        </p:nvSpPr>
        <p:spPr>
          <a:xfrm>
            <a:off x="10464800" y="2667000"/>
            <a:ext cx="3606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00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2020 — oggi</a:t>
            </a:r>
            <a:endParaRPr lang="it-IT" sz="2400" noProof="0" dirty="0"/>
          </a:p>
        </p:txBody>
      </p:sp>
      <p:sp>
        <p:nvSpPr>
          <p:cNvPr id="10" name="card-a"/>
          <p:cNvSpPr/>
          <p:nvPr/>
        </p:nvSpPr>
        <p:spPr>
          <a:xfrm>
            <a:off x="762000" y="4216400"/>
            <a:ext cx="6045200" cy="294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1" name="card-a-title"/>
          <p:cNvSpPr/>
          <p:nvPr/>
        </p:nvSpPr>
        <p:spPr>
          <a:xfrm>
            <a:off x="1117599" y="4572000"/>
            <a:ext cx="5572567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FPT Industrie · Test / Software Engineer</a:t>
            </a:r>
            <a:endParaRPr lang="it-IT" sz="2400" noProof="0" dirty="0"/>
          </a:p>
        </p:txBody>
      </p:sp>
      <p:sp>
        <p:nvSpPr>
          <p:cNvPr id="12" name="card-a-copy"/>
          <p:cNvSpPr/>
          <p:nvPr/>
        </p:nvSpPr>
        <p:spPr>
          <a:xfrm>
            <a:off x="1117600" y="5156200"/>
            <a:ext cx="52070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376"/>
              </a:lnSpc>
              <a:spcBef>
                <a:spcPts val="10"/>
              </a:spcBef>
              <a:buSzPct val="100000"/>
              <a:buChar char="•"/>
            </a:pP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Soluzioni di misura, CNC e ambienti manifatturieri Industry 4.0</a:t>
            </a:r>
            <a:endParaRPr lang="it-IT" sz="1800" noProof="0" dirty="0"/>
          </a:p>
          <a:p>
            <a:pPr marL="285750" indent="-285750" algn="l">
              <a:lnSpc>
                <a:spcPts val="2376"/>
              </a:lnSpc>
              <a:spcBef>
                <a:spcPts val="10"/>
              </a:spcBef>
              <a:buSzPct val="100000"/>
              <a:buChar char="•"/>
            </a:pP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Integrazioni tra MES, pianificazione e controlli numerici</a:t>
            </a:r>
            <a:endParaRPr lang="it-IT" sz="1800" noProof="0" dirty="0"/>
          </a:p>
          <a:p>
            <a:pPr marL="285750" indent="-285750" algn="l">
              <a:lnSpc>
                <a:spcPts val="2376"/>
              </a:lnSpc>
              <a:spcBef>
                <a:spcPts val="10"/>
              </a:spcBef>
              <a:buSzPct val="100000"/>
              <a:buChar char="•"/>
            </a:pP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Qualifica macchina, testing e supporto alla messa in servizio</a:t>
            </a:r>
            <a:endParaRPr lang="it-IT" sz="1800" noProof="0" dirty="0"/>
          </a:p>
        </p:txBody>
      </p:sp>
      <p:sp>
        <p:nvSpPr>
          <p:cNvPr id="13" name="card-b"/>
          <p:cNvSpPr/>
          <p:nvPr/>
        </p:nvSpPr>
        <p:spPr>
          <a:xfrm>
            <a:off x="8204200" y="4216400"/>
            <a:ext cx="7289800" cy="2946400"/>
          </a:xfrm>
          <a:prstGeom prst="rect">
            <a:avLst/>
          </a:prstGeom>
          <a:solidFill>
            <a:srgbClr val="0B192C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4" name="card-b-title"/>
          <p:cNvSpPr/>
          <p:nvPr/>
        </p:nvSpPr>
        <p:spPr>
          <a:xfrm>
            <a:off x="8585200" y="4572000"/>
            <a:ext cx="635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voestalpine Böhler Welding </a:t>
            </a:r>
            <a:r>
              <a:rPr lang="it-IT" sz="2400" noProof="0" dirty="0" err="1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Arc</a:t>
            </a:r>
            <a:r>
              <a:rPr lang="it-IT" sz="24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Technology</a:t>
            </a:r>
            <a:endParaRPr lang="it-IT" sz="2400" noProof="0" dirty="0"/>
          </a:p>
        </p:txBody>
      </p:sp>
      <p:sp>
        <p:nvSpPr>
          <p:cNvPr id="15" name="card-b-copy"/>
          <p:cNvSpPr/>
          <p:nvPr/>
        </p:nvSpPr>
        <p:spPr>
          <a:xfrm>
            <a:off x="8585200" y="5156200"/>
            <a:ext cx="642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376"/>
              </a:lnSpc>
              <a:spcBef>
                <a:spcPts val="10"/>
              </a:spcBef>
              <a:buSzPct val="100000"/>
              <a:buChar char="•"/>
            </a:pPr>
            <a:r>
              <a:rPr lang="it-IT" sz="1800" noProof="0" dirty="0">
                <a:solidFill>
                  <a:srgbClr val="E5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Coordinator per piattaforma Industry 4.0 di Gruppo dal 2022</a:t>
            </a:r>
            <a:endParaRPr lang="it-IT" sz="1800" noProof="0" dirty="0"/>
          </a:p>
          <a:p>
            <a:pPr marL="285750" indent="-285750" algn="l">
              <a:lnSpc>
                <a:spcPts val="2376"/>
              </a:lnSpc>
              <a:spcBef>
                <a:spcPts val="10"/>
              </a:spcBef>
              <a:buSzPct val="100000"/>
              <a:buChar char="•"/>
            </a:pPr>
            <a:r>
              <a:rPr lang="it-IT" sz="1800" noProof="0" dirty="0">
                <a:solidFill>
                  <a:srgbClr val="E5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Manager per una nuova interfaccia hardware dal 2022</a:t>
            </a:r>
            <a:endParaRPr lang="it-IT" sz="1800" noProof="0" dirty="0"/>
          </a:p>
          <a:p>
            <a:pPr marL="285750" indent="-285750" algn="l">
              <a:lnSpc>
                <a:spcPts val="2376"/>
              </a:lnSpc>
              <a:spcBef>
                <a:spcPts val="10"/>
              </a:spcBef>
              <a:buSzPct val="100000"/>
              <a:buChar char="•"/>
            </a:pPr>
            <a:r>
              <a:rPr lang="it-IT" sz="1800" noProof="0" dirty="0">
                <a:solidFill>
                  <a:srgbClr val="E5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Tech Lead per iniziative di Gruppo dal 2025</a:t>
            </a:r>
            <a:endParaRPr lang="it-IT" sz="1800" noProof="0" dirty="0"/>
          </a:p>
        </p:txBody>
      </p:sp>
      <p:sp>
        <p:nvSpPr>
          <p:cNvPr id="16" name="impact-box"/>
          <p:cNvSpPr/>
          <p:nvPr/>
        </p:nvSpPr>
        <p:spPr>
          <a:xfrm>
            <a:off x="762000" y="7493000"/>
            <a:ext cx="14732000" cy="959022"/>
          </a:xfrm>
          <a:prstGeom prst="rect">
            <a:avLst/>
          </a:prstGeom>
          <a:solidFill>
            <a:srgbClr val="EAF7F6"/>
          </a:solidFill>
          <a:ln w="127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7" name="impact"/>
          <p:cNvSpPr/>
          <p:nvPr/>
        </p:nvSpPr>
        <p:spPr>
          <a:xfrm>
            <a:off x="838200" y="7581900"/>
            <a:ext cx="14465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b="1" noProof="0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Risultati rilevanti:</a:t>
            </a: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 brevetti internazionali, sviluppo di un sistema di misura basato su laser a bordo macchina con risoluzione entro 10 µm, modernizzazione della suite Weld@Net in C# e miglioramenti di performance dichiarati fino al 1200% in componenti C++ selezionati.</a:t>
            </a:r>
            <a:endParaRPr lang="it-IT" sz="1800" noProof="0" dirty="0"/>
          </a:p>
        </p:txBody>
      </p:sp>
      <p:sp>
        <p:nvSpPr>
          <p:cNvPr id="18" name="footer"/>
          <p:cNvSpPr/>
          <p:nvPr/>
        </p:nvSpPr>
        <p:spPr>
          <a:xfrm>
            <a:off x="762000" y="85852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 Charging Test System · Case study</a:t>
            </a:r>
            <a:endParaRPr lang="it-IT" sz="1400" noProof="0" dirty="0"/>
          </a:p>
        </p:txBody>
      </p:sp>
      <p:sp>
        <p:nvSpPr>
          <p:cNvPr id="19" name="page"/>
          <p:cNvSpPr/>
          <p:nvPr/>
        </p:nvSpPr>
        <p:spPr>
          <a:xfrm>
            <a:off x="13716000" y="8585200"/>
            <a:ext cx="177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11</a:t>
            </a:r>
            <a:endParaRPr lang="it-IT" sz="1400" noProof="0" dirty="0"/>
          </a:p>
        </p:txBody>
      </p:sp>
      <p:sp>
        <p:nvSpPr>
          <p:cNvPr id="20" name="register"/>
          <p:cNvSpPr/>
          <p:nvPr/>
        </p:nvSpPr>
        <p:spPr>
          <a:xfrm>
            <a:off x="15303500" y="330200"/>
            <a:ext cx="190500" cy="190500"/>
          </a:xfrm>
          <a:prstGeom prst="rect">
            <a:avLst/>
          </a:prstGeom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/>
          <p:nvPr/>
        </p:nvSpPr>
        <p:spPr>
          <a:xfrm>
            <a:off x="762000" y="3556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OBIETTIVO E FLUSSO</a:t>
            </a:r>
            <a:endParaRPr lang="it-IT" sz="1400" noProof="0" dirty="0"/>
          </a:p>
        </p:txBody>
      </p:sp>
      <p:sp>
        <p:nvSpPr>
          <p:cNvPr id="3" name="title"/>
          <p:cNvSpPr/>
          <p:nvPr/>
        </p:nvSpPr>
        <p:spPr>
          <a:xfrm>
            <a:off x="762000" y="863600"/>
            <a:ext cx="1143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3200" noProof="0" dirty="0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Dal seriale al risultato tracciabile</a:t>
            </a:r>
            <a:endParaRPr lang="it-IT" sz="3200" noProof="0" dirty="0"/>
          </a:p>
        </p:txBody>
      </p:sp>
      <p:sp>
        <p:nvSpPr>
          <p:cNvPr id="4" name="intro"/>
          <p:cNvSpPr/>
          <p:nvPr/>
        </p:nvSpPr>
        <p:spPr>
          <a:xfrm>
            <a:off x="762000" y="1600200"/>
            <a:ext cx="1231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</a:t>
            </a:r>
            <a:r>
              <a:rPr lang="it-IT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progetto</a:t>
            </a:r>
            <a:r>
              <a:rPr lang="it-IT" sz="18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eseguibile per dimostrare separazione delle responsabilità, workflow sicuro e integrazione esterna.</a:t>
            </a:r>
            <a:endParaRPr lang="it-IT" sz="1800" noProof="0" dirty="0"/>
          </a:p>
        </p:txBody>
      </p:sp>
      <p:sp>
        <p:nvSpPr>
          <p:cNvPr id="5" name="flow-rule"/>
          <p:cNvSpPr/>
          <p:nvPr/>
        </p:nvSpPr>
        <p:spPr>
          <a:xfrm>
            <a:off x="1524000" y="3962400"/>
            <a:ext cx="13208000" cy="9144"/>
          </a:xfrm>
          <a:prstGeom prst="line">
            <a:avLst/>
          </a:prstGeom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6" name="s1"/>
          <p:cNvSpPr/>
          <p:nvPr/>
        </p:nvSpPr>
        <p:spPr>
          <a:xfrm>
            <a:off x="762000" y="2946400"/>
            <a:ext cx="2006600" cy="200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7" name="s1n"/>
          <p:cNvSpPr/>
          <p:nvPr/>
        </p:nvSpPr>
        <p:spPr>
          <a:xfrm>
            <a:off x="1041400" y="3175000"/>
            <a:ext cx="63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00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it-IT" sz="2400" noProof="0" dirty="0"/>
          </a:p>
        </p:txBody>
      </p:sp>
      <p:sp>
        <p:nvSpPr>
          <p:cNvPr id="8" name="s1t"/>
          <p:cNvSpPr/>
          <p:nvPr/>
        </p:nvSpPr>
        <p:spPr>
          <a:xfrm>
            <a:off x="1041400" y="3759200"/>
            <a:ext cx="1498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Seriale</a:t>
            </a:r>
            <a:endParaRPr lang="it-IT" sz="1800" noProof="0" dirty="0"/>
          </a:p>
          <a:p>
            <a:pPr marL="0" indent="0" algn="l">
              <a:buNone/>
            </a:pP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operatore</a:t>
            </a:r>
            <a:endParaRPr lang="it-IT" sz="1800" noProof="0" dirty="0"/>
          </a:p>
        </p:txBody>
      </p:sp>
      <p:sp>
        <p:nvSpPr>
          <p:cNvPr id="9" name="a1"/>
          <p:cNvSpPr/>
          <p:nvPr/>
        </p:nvSpPr>
        <p:spPr>
          <a:xfrm>
            <a:off x="2768600" y="3962400"/>
            <a:ext cx="431800" cy="9144"/>
          </a:xfrm>
          <a:prstGeom prst="line">
            <a:avLst/>
          </a:prstGeom>
          <a:ln w="25400">
            <a:solidFill>
              <a:srgbClr val="0055FF"/>
            </a:solidFill>
            <a:prstDash val="solid"/>
            <a:tailEnd type="triangle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s2"/>
          <p:cNvSpPr/>
          <p:nvPr/>
        </p:nvSpPr>
        <p:spPr>
          <a:xfrm>
            <a:off x="3200400" y="2946400"/>
            <a:ext cx="2006600" cy="200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1" name="s2n"/>
          <p:cNvSpPr/>
          <p:nvPr/>
        </p:nvSpPr>
        <p:spPr>
          <a:xfrm>
            <a:off x="3479800" y="3175000"/>
            <a:ext cx="63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00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it-IT" sz="2400" noProof="0" dirty="0"/>
          </a:p>
        </p:txBody>
      </p:sp>
      <p:sp>
        <p:nvSpPr>
          <p:cNvPr id="12" name="s2t"/>
          <p:cNvSpPr/>
          <p:nvPr/>
        </p:nvSpPr>
        <p:spPr>
          <a:xfrm>
            <a:off x="3479800" y="3759200"/>
            <a:ext cx="1498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</a:t>
            </a:r>
            <a:endParaRPr lang="it-IT" sz="1800" noProof="0" dirty="0"/>
          </a:p>
          <a:p>
            <a:pPr marL="0" indent="0" algn="l">
              <a:buNone/>
            </a:pP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dal MES</a:t>
            </a:r>
            <a:endParaRPr lang="it-IT" sz="1800" noProof="0" dirty="0"/>
          </a:p>
        </p:txBody>
      </p:sp>
      <p:sp>
        <p:nvSpPr>
          <p:cNvPr id="13" name="a2"/>
          <p:cNvSpPr/>
          <p:nvPr/>
        </p:nvSpPr>
        <p:spPr>
          <a:xfrm>
            <a:off x="5207000" y="3962400"/>
            <a:ext cx="431800" cy="9144"/>
          </a:xfrm>
          <a:prstGeom prst="line">
            <a:avLst/>
          </a:prstGeom>
          <a:ln w="25400">
            <a:solidFill>
              <a:srgbClr val="0055FF"/>
            </a:solidFill>
            <a:prstDash val="solid"/>
            <a:tailEnd type="triangle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4" name="s3"/>
          <p:cNvSpPr/>
          <p:nvPr/>
        </p:nvSpPr>
        <p:spPr>
          <a:xfrm>
            <a:off x="5638800" y="2946400"/>
            <a:ext cx="2006600" cy="200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5" name="s3n"/>
          <p:cNvSpPr/>
          <p:nvPr/>
        </p:nvSpPr>
        <p:spPr>
          <a:xfrm>
            <a:off x="5918200" y="3175000"/>
            <a:ext cx="63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00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it-IT" sz="2400" noProof="0" dirty="0"/>
          </a:p>
        </p:txBody>
      </p:sp>
      <p:sp>
        <p:nvSpPr>
          <p:cNvPr id="16" name="s3t"/>
          <p:cNvSpPr/>
          <p:nvPr/>
        </p:nvSpPr>
        <p:spPr>
          <a:xfrm>
            <a:off x="5918200" y="3759200"/>
            <a:ext cx="1498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Connessione</a:t>
            </a:r>
            <a:endParaRPr lang="it-IT" sz="1800" noProof="0" dirty="0"/>
          </a:p>
          <a:p>
            <a:pPr marL="0" indent="0" algn="l">
              <a:buNone/>
            </a:pP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DUT / TS HW</a:t>
            </a:r>
            <a:endParaRPr lang="it-IT" sz="1800" noProof="0" dirty="0"/>
          </a:p>
        </p:txBody>
      </p:sp>
      <p:sp>
        <p:nvSpPr>
          <p:cNvPr id="17" name="a3"/>
          <p:cNvSpPr/>
          <p:nvPr/>
        </p:nvSpPr>
        <p:spPr>
          <a:xfrm>
            <a:off x="7645400" y="3962400"/>
            <a:ext cx="431800" cy="9144"/>
          </a:xfrm>
          <a:prstGeom prst="line">
            <a:avLst/>
          </a:prstGeom>
          <a:ln w="25400">
            <a:solidFill>
              <a:srgbClr val="0055FF"/>
            </a:solidFill>
            <a:prstDash val="solid"/>
            <a:tailEnd type="triangle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8" name="s4"/>
          <p:cNvSpPr/>
          <p:nvPr/>
        </p:nvSpPr>
        <p:spPr>
          <a:xfrm>
            <a:off x="8077200" y="2946400"/>
            <a:ext cx="2006600" cy="200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9" name="s4n"/>
          <p:cNvSpPr/>
          <p:nvPr/>
        </p:nvSpPr>
        <p:spPr>
          <a:xfrm>
            <a:off x="8356600" y="3175000"/>
            <a:ext cx="63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00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it-IT" sz="2400" noProof="0" dirty="0"/>
          </a:p>
        </p:txBody>
      </p:sp>
      <p:sp>
        <p:nvSpPr>
          <p:cNvPr id="20" name="s4t"/>
          <p:cNvSpPr/>
          <p:nvPr/>
        </p:nvSpPr>
        <p:spPr>
          <a:xfrm>
            <a:off x="8356600" y="3759200"/>
            <a:ext cx="1498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Ricarica e</a:t>
            </a:r>
            <a:endParaRPr lang="it-IT" sz="1800" noProof="0" dirty="0"/>
          </a:p>
          <a:p>
            <a:pPr marL="0" indent="0" algn="l">
              <a:buNone/>
            </a:pP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monitoraggio</a:t>
            </a:r>
            <a:endParaRPr lang="it-IT" sz="1800" noProof="0" dirty="0"/>
          </a:p>
        </p:txBody>
      </p:sp>
      <p:sp>
        <p:nvSpPr>
          <p:cNvPr id="21" name="a4"/>
          <p:cNvSpPr/>
          <p:nvPr/>
        </p:nvSpPr>
        <p:spPr>
          <a:xfrm>
            <a:off x="10083800" y="3962400"/>
            <a:ext cx="431800" cy="9144"/>
          </a:xfrm>
          <a:prstGeom prst="line">
            <a:avLst/>
          </a:prstGeom>
          <a:ln w="25400">
            <a:solidFill>
              <a:srgbClr val="0055FF"/>
            </a:solidFill>
            <a:prstDash val="solid"/>
            <a:tailEnd type="triangle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2" name="s5"/>
          <p:cNvSpPr/>
          <p:nvPr/>
        </p:nvSpPr>
        <p:spPr>
          <a:xfrm>
            <a:off x="10515600" y="2946400"/>
            <a:ext cx="2006600" cy="200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3" name="s5n"/>
          <p:cNvSpPr/>
          <p:nvPr/>
        </p:nvSpPr>
        <p:spPr>
          <a:xfrm>
            <a:off x="10795000" y="3175000"/>
            <a:ext cx="63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00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it-IT" sz="2400" noProof="0" dirty="0"/>
          </a:p>
        </p:txBody>
      </p:sp>
      <p:sp>
        <p:nvSpPr>
          <p:cNvPr id="24" name="s5t"/>
          <p:cNvSpPr/>
          <p:nvPr/>
        </p:nvSpPr>
        <p:spPr>
          <a:xfrm>
            <a:off x="10795000" y="3759200"/>
            <a:ext cx="1498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Valutazione</a:t>
            </a:r>
            <a:endParaRPr lang="it-IT" sz="1800" noProof="0" dirty="0"/>
          </a:p>
          <a:p>
            <a:pPr marL="0" indent="0" algn="l">
              <a:buNone/>
            </a:pP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 / FAIL</a:t>
            </a:r>
            <a:endParaRPr lang="it-IT" sz="1800" noProof="0" dirty="0"/>
          </a:p>
        </p:txBody>
      </p:sp>
      <p:sp>
        <p:nvSpPr>
          <p:cNvPr id="25" name="a5"/>
          <p:cNvSpPr/>
          <p:nvPr/>
        </p:nvSpPr>
        <p:spPr>
          <a:xfrm>
            <a:off x="12522200" y="3962400"/>
            <a:ext cx="431800" cy="9144"/>
          </a:xfrm>
          <a:prstGeom prst="line">
            <a:avLst/>
          </a:prstGeom>
          <a:ln w="25400">
            <a:solidFill>
              <a:srgbClr val="0055FF"/>
            </a:solidFill>
            <a:prstDash val="solid"/>
            <a:tailEnd type="triangle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6" name="s6"/>
          <p:cNvSpPr/>
          <p:nvPr/>
        </p:nvSpPr>
        <p:spPr>
          <a:xfrm>
            <a:off x="12954000" y="2946400"/>
            <a:ext cx="2540000" cy="200660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27" name="s6n"/>
          <p:cNvSpPr/>
          <p:nvPr/>
        </p:nvSpPr>
        <p:spPr>
          <a:xfrm>
            <a:off x="13233400" y="3175000"/>
            <a:ext cx="63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it-IT" sz="2400" noProof="0" dirty="0"/>
          </a:p>
        </p:txBody>
      </p:sp>
      <p:sp>
        <p:nvSpPr>
          <p:cNvPr id="28" name="s6t"/>
          <p:cNvSpPr/>
          <p:nvPr/>
        </p:nvSpPr>
        <p:spPr>
          <a:xfrm>
            <a:off x="13233400" y="3759200"/>
            <a:ext cx="1981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esito</a:t>
            </a:r>
            <a:endParaRPr lang="it-IT" sz="1800" noProof="0" dirty="0"/>
          </a:p>
          <a:p>
            <a:pPr marL="0" indent="0" algn="l">
              <a:buNone/>
            </a:pPr>
            <a:r>
              <a:rPr lang="it-IT" sz="1800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tracciabile</a:t>
            </a:r>
            <a:endParaRPr lang="it-IT" sz="1800" noProof="0" dirty="0"/>
          </a:p>
        </p:txBody>
      </p:sp>
      <p:sp>
        <p:nvSpPr>
          <p:cNvPr id="29" name="scope-card"/>
          <p:cNvSpPr/>
          <p:nvPr/>
        </p:nvSpPr>
        <p:spPr>
          <a:xfrm>
            <a:off x="762000" y="5816600"/>
            <a:ext cx="14732000" cy="1600200"/>
          </a:xfrm>
          <a:prstGeom prst="rect">
            <a:avLst/>
          </a:prstGeom>
          <a:solidFill>
            <a:srgbClr val="0B192C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30" name="scope-title"/>
          <p:cNvSpPr/>
          <p:nvPr/>
        </p:nvSpPr>
        <p:spPr>
          <a:xfrm>
            <a:off x="1117600" y="6146800"/>
            <a:ext cx="3429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Confine del progetto</a:t>
            </a:r>
            <a:endParaRPr lang="it-IT" sz="2400" noProof="0" dirty="0"/>
          </a:p>
        </p:txBody>
      </p:sp>
      <p:sp>
        <p:nvSpPr>
          <p:cNvPr id="31" name="scope-copy"/>
          <p:cNvSpPr/>
          <p:nvPr/>
        </p:nvSpPr>
        <p:spPr>
          <a:xfrm>
            <a:off x="1117600" y="6654800"/>
            <a:ext cx="13589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noProof="0" dirty="0">
                <a:solidFill>
                  <a:srgbClr val="D8E2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Dimostra il comportamento della Test System App. Il </a:t>
            </a:r>
            <a:r>
              <a:rPr lang="it-IT" sz="1800" noProof="0" dirty="0" err="1">
                <a:solidFill>
                  <a:srgbClr val="D8E2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mock</a:t>
            </a:r>
            <a:r>
              <a:rPr lang="it-IT" sz="1800" noProof="0" dirty="0">
                <a:solidFill>
                  <a:srgbClr val="D8E2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MES rende osservabile l’API, ma non pretende di sostituire il MES produttivo.</a:t>
            </a:r>
            <a:endParaRPr lang="it-IT" sz="1800" noProof="0" dirty="0"/>
          </a:p>
        </p:txBody>
      </p:sp>
      <p:sp>
        <p:nvSpPr>
          <p:cNvPr id="32" name="footer"/>
          <p:cNvSpPr/>
          <p:nvPr/>
        </p:nvSpPr>
        <p:spPr>
          <a:xfrm>
            <a:off x="762000" y="85852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 Charging Test System · Case study</a:t>
            </a:r>
            <a:endParaRPr lang="it-IT" sz="1400" noProof="0" dirty="0"/>
          </a:p>
        </p:txBody>
      </p:sp>
      <p:sp>
        <p:nvSpPr>
          <p:cNvPr id="33" name="page"/>
          <p:cNvSpPr/>
          <p:nvPr/>
        </p:nvSpPr>
        <p:spPr>
          <a:xfrm>
            <a:off x="13716000" y="8585200"/>
            <a:ext cx="177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11</a:t>
            </a:r>
            <a:endParaRPr lang="it-IT" sz="1400" noProof="0" dirty="0"/>
          </a:p>
        </p:txBody>
      </p:sp>
      <p:sp>
        <p:nvSpPr>
          <p:cNvPr id="34" name="register"/>
          <p:cNvSpPr/>
          <p:nvPr/>
        </p:nvSpPr>
        <p:spPr>
          <a:xfrm>
            <a:off x="15303500" y="330200"/>
            <a:ext cx="190500" cy="190500"/>
          </a:xfrm>
          <a:prstGeom prst="rect">
            <a:avLst/>
          </a:prstGeom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/>
          <p:nvPr/>
        </p:nvSpPr>
        <p:spPr>
          <a:xfrm>
            <a:off x="762000" y="3556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ARCHITETTURA</a:t>
            </a:r>
            <a:endParaRPr lang="it-IT" sz="1400" noProof="0" dirty="0"/>
          </a:p>
        </p:txBody>
      </p:sp>
      <p:sp>
        <p:nvSpPr>
          <p:cNvPr id="3" name="title"/>
          <p:cNvSpPr/>
          <p:nvPr/>
        </p:nvSpPr>
        <p:spPr>
          <a:xfrm>
            <a:off x="762000" y="863600"/>
            <a:ext cx="1143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3200" noProof="0" dirty="0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Separare ciò che cambia</a:t>
            </a:r>
            <a:endParaRPr lang="it-IT" sz="3200" noProof="0" dirty="0"/>
          </a:p>
        </p:txBody>
      </p:sp>
      <p:sp>
        <p:nvSpPr>
          <p:cNvPr id="5" name="ui"/>
          <p:cNvSpPr/>
          <p:nvPr/>
        </p:nvSpPr>
        <p:spPr>
          <a:xfrm>
            <a:off x="762000" y="2438400"/>
            <a:ext cx="2667000" cy="1676400"/>
          </a:xfrm>
          <a:prstGeom prst="rect">
            <a:avLst/>
          </a:prstGeom>
          <a:solidFill>
            <a:srgbClr val="EAF1FF"/>
          </a:solidFill>
          <a:ln w="25400">
            <a:solidFill>
              <a:srgbClr val="0055FF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6" name="ui-t"/>
          <p:cNvSpPr/>
          <p:nvPr/>
        </p:nvSpPr>
        <p:spPr>
          <a:xfrm>
            <a:off x="1016000" y="2743200"/>
            <a:ext cx="215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 err="1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WinUI</a:t>
            </a:r>
            <a:r>
              <a:rPr lang="it-IT" sz="2400" noProof="0" dirty="0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3</a:t>
            </a:r>
            <a:endParaRPr lang="it-IT" sz="2400" noProof="0" dirty="0"/>
          </a:p>
        </p:txBody>
      </p:sp>
      <p:sp>
        <p:nvSpPr>
          <p:cNvPr id="7" name="ui-b"/>
          <p:cNvSpPr/>
          <p:nvPr/>
        </p:nvSpPr>
        <p:spPr>
          <a:xfrm>
            <a:off x="1016000" y="3276600"/>
            <a:ext cx="2159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MainPage</a:t>
            </a:r>
            <a:endParaRPr lang="it-IT" sz="1400" noProof="0" dirty="0"/>
          </a:p>
          <a:p>
            <a:pPr marL="0" indent="0" algn="l">
              <a:buNone/>
            </a:pPr>
            <a:r>
              <a:rPr lang="it-IT" sz="1400" noProof="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MainViewModel</a:t>
            </a: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lang="it-IT" sz="1400" noProof="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DispatcherQueue</a:t>
            </a:r>
            <a:endParaRPr lang="it-IT" sz="1400" noProof="0" dirty="0"/>
          </a:p>
        </p:txBody>
      </p:sp>
      <p:sp>
        <p:nvSpPr>
          <p:cNvPr id="8" name="app"/>
          <p:cNvSpPr/>
          <p:nvPr/>
        </p:nvSpPr>
        <p:spPr>
          <a:xfrm>
            <a:off x="4216400" y="2438400"/>
            <a:ext cx="3302000" cy="1676400"/>
          </a:xfrm>
          <a:prstGeom prst="rect">
            <a:avLst/>
          </a:prstGeom>
          <a:solidFill>
            <a:srgbClr val="EAF7F6"/>
          </a:solidFill>
          <a:ln w="254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9" name="app-t"/>
          <p:cNvSpPr/>
          <p:nvPr/>
        </p:nvSpPr>
        <p:spPr>
          <a:xfrm>
            <a:off x="4470400" y="2743200"/>
            <a:ext cx="279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Application</a:t>
            </a:r>
            <a:endParaRPr lang="it-IT" sz="2400" noProof="0" dirty="0"/>
          </a:p>
        </p:txBody>
      </p:sp>
      <p:sp>
        <p:nvSpPr>
          <p:cNvPr id="10" name="app-b"/>
          <p:cNvSpPr/>
          <p:nvPr/>
        </p:nvSpPr>
        <p:spPr>
          <a:xfrm>
            <a:off x="4470400" y="3276600"/>
            <a:ext cx="2794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ChargingTestOrchestrator</a:t>
            </a:r>
            <a:endParaRPr lang="it-IT" sz="1400" noProof="0" dirty="0"/>
          </a:p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porte · monitoraggio</a:t>
            </a:r>
            <a:endParaRPr lang="it-IT" sz="1400" noProof="0" dirty="0"/>
          </a:p>
        </p:txBody>
      </p:sp>
      <p:sp>
        <p:nvSpPr>
          <p:cNvPr id="11" name="domain"/>
          <p:cNvSpPr/>
          <p:nvPr/>
        </p:nvSpPr>
        <p:spPr>
          <a:xfrm>
            <a:off x="8305800" y="2438400"/>
            <a:ext cx="3175000" cy="1676400"/>
          </a:xfrm>
          <a:prstGeom prst="rect">
            <a:avLst/>
          </a:prstGeom>
          <a:solidFill>
            <a:srgbClr val="F1F7EE"/>
          </a:solidFill>
          <a:ln w="25400">
            <a:solidFill>
              <a:srgbClr val="51805B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2" name="domain-t"/>
          <p:cNvSpPr/>
          <p:nvPr/>
        </p:nvSpPr>
        <p:spPr>
          <a:xfrm>
            <a:off x="8559800" y="2743200"/>
            <a:ext cx="26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Domain</a:t>
            </a:r>
            <a:endParaRPr lang="it-IT" sz="2400" noProof="0" dirty="0"/>
          </a:p>
        </p:txBody>
      </p:sp>
      <p:sp>
        <p:nvSpPr>
          <p:cNvPr id="13" name="domain-b"/>
          <p:cNvSpPr/>
          <p:nvPr/>
        </p:nvSpPr>
        <p:spPr>
          <a:xfrm>
            <a:off x="8559800" y="3276600"/>
            <a:ext cx="2667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 · misure</a:t>
            </a:r>
            <a:endParaRPr lang="it-IT" sz="1400" noProof="0" dirty="0"/>
          </a:p>
          <a:p>
            <a:pPr marL="0" indent="0" algn="l">
              <a:buNone/>
            </a:pPr>
            <a:r>
              <a:rPr lang="it-IT" sz="1400" noProof="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ResultEvaluator</a:t>
            </a:r>
            <a:endParaRPr lang="it-IT" sz="1400" noProof="0" dirty="0"/>
          </a:p>
        </p:txBody>
      </p:sp>
      <p:sp>
        <p:nvSpPr>
          <p:cNvPr id="14" name="a-ui-app"/>
          <p:cNvSpPr/>
          <p:nvPr/>
        </p:nvSpPr>
        <p:spPr>
          <a:xfrm>
            <a:off x="3429000" y="3276600"/>
            <a:ext cx="787400" cy="9144"/>
          </a:xfrm>
          <a:prstGeom prst="line">
            <a:avLst/>
          </a:prstGeom>
          <a:ln w="25400">
            <a:solidFill>
              <a:srgbClr val="0B192C"/>
            </a:solidFill>
            <a:prstDash val="solid"/>
            <a:tailEnd type="triangle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5" name="a-app-domain"/>
          <p:cNvSpPr/>
          <p:nvPr/>
        </p:nvSpPr>
        <p:spPr>
          <a:xfrm>
            <a:off x="7518400" y="3276600"/>
            <a:ext cx="787400" cy="9144"/>
          </a:xfrm>
          <a:prstGeom prst="line">
            <a:avLst/>
          </a:prstGeom>
          <a:ln w="25400">
            <a:solidFill>
              <a:srgbClr val="0B192C"/>
            </a:solidFill>
            <a:prstDash val="solid"/>
            <a:tailEnd type="triangle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6" name="infra"/>
          <p:cNvSpPr/>
          <p:nvPr/>
        </p:nvSpPr>
        <p:spPr>
          <a:xfrm>
            <a:off x="4216400" y="5207000"/>
            <a:ext cx="3302000" cy="1752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7" name="infra-t"/>
          <p:cNvSpPr/>
          <p:nvPr/>
        </p:nvSpPr>
        <p:spPr>
          <a:xfrm>
            <a:off x="4470400" y="5511800"/>
            <a:ext cx="279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 err="1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Infrastructure</a:t>
            </a:r>
            <a:endParaRPr lang="it-IT" sz="2400" noProof="0" dirty="0"/>
          </a:p>
        </p:txBody>
      </p:sp>
      <p:sp>
        <p:nvSpPr>
          <p:cNvPr id="18" name="infra-b"/>
          <p:cNvSpPr/>
          <p:nvPr/>
        </p:nvSpPr>
        <p:spPr>
          <a:xfrm>
            <a:off x="4470400" y="6045200"/>
            <a:ext cx="279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adapter</a:t>
            </a: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lang="it-IT" sz="1400" noProof="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retry</a:t>
            </a: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lang="it-IT" sz="1400" noProof="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mock</a:t>
            </a:r>
            <a:endParaRPr lang="it-IT" sz="1400" noProof="0" dirty="0"/>
          </a:p>
          <a:p>
            <a:pPr marL="0" indent="0" algn="l">
              <a:buNone/>
            </a:pPr>
            <a:r>
              <a:rPr lang="it-IT" sz="1400" noProof="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HttpMesGateway</a:t>
            </a:r>
            <a:endParaRPr lang="it-IT" sz="1400" noProof="0" dirty="0"/>
          </a:p>
        </p:txBody>
      </p:sp>
      <p:sp>
        <p:nvSpPr>
          <p:cNvPr id="19" name="a-app-infra"/>
          <p:cNvSpPr/>
          <p:nvPr/>
        </p:nvSpPr>
        <p:spPr>
          <a:xfrm>
            <a:off x="5867400" y="4114800"/>
            <a:ext cx="9144" cy="1092200"/>
          </a:xfrm>
          <a:prstGeom prst="line">
            <a:avLst/>
          </a:prstGeom>
          <a:ln w="25400">
            <a:solidFill>
              <a:srgbClr val="0B192C"/>
            </a:solidFill>
            <a:prstDash val="solid"/>
            <a:tailEnd type="triangle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0" name="mes"/>
          <p:cNvSpPr/>
          <p:nvPr/>
        </p:nvSpPr>
        <p:spPr>
          <a:xfrm>
            <a:off x="12319000" y="2438400"/>
            <a:ext cx="3175000" cy="1676400"/>
          </a:xfrm>
          <a:prstGeom prst="rect">
            <a:avLst/>
          </a:prstGeom>
          <a:solidFill>
            <a:srgbClr val="EAF7F6"/>
          </a:solidFill>
          <a:ln w="254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1" name="mes-t"/>
          <p:cNvSpPr/>
          <p:nvPr/>
        </p:nvSpPr>
        <p:spPr>
          <a:xfrm>
            <a:off x="12573000" y="2743200"/>
            <a:ext cx="26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006D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MES REST API</a:t>
            </a:r>
            <a:endParaRPr lang="it-IT" sz="2400" noProof="0" dirty="0"/>
          </a:p>
        </p:txBody>
      </p:sp>
      <p:sp>
        <p:nvSpPr>
          <p:cNvPr id="22" name="mes-b"/>
          <p:cNvSpPr/>
          <p:nvPr/>
        </p:nvSpPr>
        <p:spPr>
          <a:xfrm>
            <a:off x="12573000" y="3276600"/>
            <a:ext cx="2667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 · risultato</a:t>
            </a:r>
            <a:endParaRPr lang="it-IT" sz="1400" noProof="0" dirty="0"/>
          </a:p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reale o </a:t>
            </a:r>
            <a:r>
              <a:rPr lang="it-IT" sz="1400" noProof="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MesMock.Api</a:t>
            </a:r>
            <a:endParaRPr lang="it-IT" sz="1400" noProof="0" dirty="0"/>
          </a:p>
        </p:txBody>
      </p:sp>
      <p:sp>
        <p:nvSpPr>
          <p:cNvPr id="23" name="hw"/>
          <p:cNvSpPr/>
          <p:nvPr/>
        </p:nvSpPr>
        <p:spPr>
          <a:xfrm>
            <a:off x="12319000" y="5207000"/>
            <a:ext cx="3175000" cy="1752600"/>
          </a:xfrm>
          <a:prstGeom prst="rect">
            <a:avLst/>
          </a:prstGeom>
          <a:solidFill>
            <a:srgbClr val="EAF1FF"/>
          </a:solidFill>
          <a:ln w="25400">
            <a:solidFill>
              <a:srgbClr val="0055FF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4" name="hw-t"/>
          <p:cNvSpPr/>
          <p:nvPr/>
        </p:nvSpPr>
        <p:spPr>
          <a:xfrm>
            <a:off x="12573000" y="5511800"/>
            <a:ext cx="26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00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DUT / TS HW</a:t>
            </a:r>
            <a:endParaRPr lang="it-IT" sz="2400" noProof="0" dirty="0"/>
          </a:p>
        </p:txBody>
      </p:sp>
      <p:sp>
        <p:nvSpPr>
          <p:cNvPr id="25" name="hw-b"/>
          <p:cNvSpPr/>
          <p:nvPr/>
        </p:nvSpPr>
        <p:spPr>
          <a:xfrm>
            <a:off x="12573000" y="6045200"/>
            <a:ext cx="266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· MQTT</a:t>
            </a:r>
            <a:endParaRPr lang="it-IT" sz="1400" noProof="0" dirty="0"/>
          </a:p>
          <a:p>
            <a:pPr marL="0" indent="0" algn="l">
              <a:buNone/>
            </a:pPr>
            <a:r>
              <a:rPr lang="it-IT" sz="1400" noProof="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Modbus</a:t>
            </a: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TCP</a:t>
            </a:r>
            <a:endParaRPr lang="it-IT" sz="1400" noProof="0" dirty="0"/>
          </a:p>
        </p:txBody>
      </p:sp>
      <p:sp>
        <p:nvSpPr>
          <p:cNvPr id="26" name="a-infra-mes"/>
          <p:cNvSpPr/>
          <p:nvPr/>
        </p:nvSpPr>
        <p:spPr>
          <a:xfrm flipV="1">
            <a:off x="7518400" y="3276600"/>
            <a:ext cx="4800600" cy="2616200"/>
          </a:xfrm>
          <a:prstGeom prst="bentConnector3">
            <a:avLst>
              <a:gd name="adj1" fmla="val 91712"/>
            </a:avLst>
          </a:prstGeom>
          <a:ln w="25400">
            <a:solidFill>
              <a:srgbClr val="006D77"/>
            </a:solidFill>
            <a:prstDash val="solid"/>
            <a:tailEnd type="triangle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7" name="a-infra-hw"/>
          <p:cNvSpPr/>
          <p:nvPr/>
        </p:nvSpPr>
        <p:spPr>
          <a:xfrm>
            <a:off x="7518400" y="6070600"/>
            <a:ext cx="4800600" cy="9144"/>
          </a:xfrm>
          <a:prstGeom prst="line">
            <a:avLst/>
          </a:prstGeom>
          <a:ln w="25400">
            <a:solidFill>
              <a:srgbClr val="0055FF"/>
            </a:solidFill>
            <a:prstDash val="solid"/>
            <a:tailEnd type="triangle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8" name="principle"/>
          <p:cNvSpPr/>
          <p:nvPr/>
        </p:nvSpPr>
        <p:spPr>
          <a:xfrm>
            <a:off x="762000" y="7543800"/>
            <a:ext cx="14732000" cy="609600"/>
          </a:xfrm>
          <a:prstGeom prst="rect">
            <a:avLst/>
          </a:prstGeom>
          <a:solidFill>
            <a:srgbClr val="0B192C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29" name="principle-text"/>
          <p:cNvSpPr/>
          <p:nvPr/>
        </p:nvSpPr>
        <p:spPr>
          <a:xfrm>
            <a:off x="1041400" y="7721600"/>
            <a:ext cx="14097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Principio guida:</a:t>
            </a:r>
            <a:r>
              <a:rPr lang="it-IT" sz="1800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Interfaccia in </a:t>
            </a:r>
            <a:r>
              <a:rPr lang="it-IT" sz="1800" noProof="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WinUI</a:t>
            </a:r>
            <a:r>
              <a:rPr lang="it-IT" sz="1800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regole pure nel Domain, orchestrazione nell’Application, dettagli volatili nell’</a:t>
            </a:r>
            <a:r>
              <a:rPr lang="it-IT" sz="1800" noProof="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</a:t>
            </a:r>
            <a:r>
              <a:rPr lang="it-IT" sz="1800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it-IT" sz="1800" noProof="0" dirty="0"/>
          </a:p>
        </p:txBody>
      </p:sp>
      <p:sp>
        <p:nvSpPr>
          <p:cNvPr id="30" name="footer"/>
          <p:cNvSpPr/>
          <p:nvPr/>
        </p:nvSpPr>
        <p:spPr>
          <a:xfrm>
            <a:off x="762000" y="85852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 Charging Test System · Case study</a:t>
            </a:r>
            <a:endParaRPr lang="it-IT" sz="1400" noProof="0" dirty="0"/>
          </a:p>
        </p:txBody>
      </p:sp>
      <p:sp>
        <p:nvSpPr>
          <p:cNvPr id="31" name="page"/>
          <p:cNvSpPr/>
          <p:nvPr/>
        </p:nvSpPr>
        <p:spPr>
          <a:xfrm>
            <a:off x="13716000" y="8585200"/>
            <a:ext cx="177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11</a:t>
            </a:r>
            <a:endParaRPr lang="it-IT" sz="1400" noProof="0" dirty="0"/>
          </a:p>
        </p:txBody>
      </p:sp>
      <p:sp>
        <p:nvSpPr>
          <p:cNvPr id="32" name="register"/>
          <p:cNvSpPr/>
          <p:nvPr/>
        </p:nvSpPr>
        <p:spPr>
          <a:xfrm>
            <a:off x="15303500" y="330200"/>
            <a:ext cx="190500" cy="190500"/>
          </a:xfrm>
          <a:prstGeom prst="rect">
            <a:avLst/>
          </a:prstGeom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/>
          <p:nvPr/>
        </p:nvSpPr>
        <p:spPr>
          <a:xfrm>
            <a:off x="762000" y="3556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SESSIONE E CONCORRENZA</a:t>
            </a:r>
            <a:endParaRPr lang="it-IT" sz="1400" noProof="0" dirty="0"/>
          </a:p>
        </p:txBody>
      </p:sp>
      <p:sp>
        <p:nvSpPr>
          <p:cNvPr id="3" name="title"/>
          <p:cNvSpPr/>
          <p:nvPr/>
        </p:nvSpPr>
        <p:spPr>
          <a:xfrm>
            <a:off x="762000" y="863600"/>
            <a:ext cx="1244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3200" noProof="0" dirty="0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Concorrente, ma deterministica nel punto che conta</a:t>
            </a:r>
            <a:endParaRPr lang="it-IT" sz="3200" noProof="0" dirty="0"/>
          </a:p>
        </p:txBody>
      </p:sp>
      <p:sp>
        <p:nvSpPr>
          <p:cNvPr id="4" name="title-rule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5" name="state-label"/>
          <p:cNvSpPr/>
          <p:nvPr/>
        </p:nvSpPr>
        <p:spPr>
          <a:xfrm>
            <a:off x="762000" y="2159000"/>
            <a:ext cx="482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MACCHINA A STATI DELLA SESSIONE</a:t>
            </a:r>
            <a:endParaRPr lang="it-IT" sz="1400" noProof="0" dirty="0"/>
          </a:p>
        </p:txBody>
      </p:sp>
      <p:sp>
        <p:nvSpPr>
          <p:cNvPr id="6" name="st1"/>
          <p:cNvSpPr/>
          <p:nvPr/>
        </p:nvSpPr>
        <p:spPr>
          <a:xfrm>
            <a:off x="762000" y="2717800"/>
            <a:ext cx="1955800" cy="78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7" name="st1t"/>
          <p:cNvSpPr/>
          <p:nvPr/>
        </p:nvSpPr>
        <p:spPr>
          <a:xfrm>
            <a:off x="965200" y="2959100"/>
            <a:ext cx="152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Loading setup</a:t>
            </a:r>
            <a:endParaRPr lang="it-IT" sz="1400" noProof="0" dirty="0"/>
          </a:p>
        </p:txBody>
      </p:sp>
      <p:sp>
        <p:nvSpPr>
          <p:cNvPr id="8" name="st2"/>
          <p:cNvSpPr/>
          <p:nvPr/>
        </p:nvSpPr>
        <p:spPr>
          <a:xfrm>
            <a:off x="3149600" y="2717800"/>
            <a:ext cx="1727200" cy="78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9" name="st2t"/>
          <p:cNvSpPr/>
          <p:nvPr/>
        </p:nvSpPr>
        <p:spPr>
          <a:xfrm>
            <a:off x="3352800" y="2959100"/>
            <a:ext cx="1320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 err="1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Connecting</a:t>
            </a:r>
            <a:endParaRPr lang="it-IT" sz="1400" noProof="0" dirty="0"/>
          </a:p>
        </p:txBody>
      </p:sp>
      <p:sp>
        <p:nvSpPr>
          <p:cNvPr id="10" name="st3"/>
          <p:cNvSpPr/>
          <p:nvPr/>
        </p:nvSpPr>
        <p:spPr>
          <a:xfrm>
            <a:off x="5308600" y="2717800"/>
            <a:ext cx="1600200" cy="78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1" name="st3t"/>
          <p:cNvSpPr/>
          <p:nvPr/>
        </p:nvSpPr>
        <p:spPr>
          <a:xfrm>
            <a:off x="5511800" y="2959100"/>
            <a:ext cx="1193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 err="1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Starting</a:t>
            </a:r>
            <a:endParaRPr lang="it-IT" sz="1400" noProof="0" dirty="0"/>
          </a:p>
        </p:txBody>
      </p:sp>
      <p:sp>
        <p:nvSpPr>
          <p:cNvPr id="12" name="st4"/>
          <p:cNvSpPr/>
          <p:nvPr/>
        </p:nvSpPr>
        <p:spPr>
          <a:xfrm>
            <a:off x="7340600" y="2717800"/>
            <a:ext cx="1803400" cy="787400"/>
          </a:xfrm>
          <a:prstGeom prst="roundRect">
            <a:avLst>
              <a:gd name="adj" fmla="val 6452"/>
            </a:avLst>
          </a:prstGeom>
          <a:solidFill>
            <a:srgbClr val="EAF1FF"/>
          </a:solidFill>
          <a:ln w="25400">
            <a:solidFill>
              <a:srgbClr val="0055FF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3" name="st4t"/>
          <p:cNvSpPr/>
          <p:nvPr/>
        </p:nvSpPr>
        <p:spPr>
          <a:xfrm>
            <a:off x="7543800" y="2959100"/>
            <a:ext cx="1397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</a:t>
            </a:r>
            <a:endParaRPr lang="it-IT" sz="1400" noProof="0" dirty="0"/>
          </a:p>
        </p:txBody>
      </p:sp>
      <p:sp>
        <p:nvSpPr>
          <p:cNvPr id="14" name="st5"/>
          <p:cNvSpPr/>
          <p:nvPr/>
        </p:nvSpPr>
        <p:spPr>
          <a:xfrm>
            <a:off x="9575800" y="2717800"/>
            <a:ext cx="1778000" cy="78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5" name="st5t"/>
          <p:cNvSpPr/>
          <p:nvPr/>
        </p:nvSpPr>
        <p:spPr>
          <a:xfrm>
            <a:off x="9779000" y="2959100"/>
            <a:ext cx="1371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 err="1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Evaluating</a:t>
            </a:r>
            <a:endParaRPr lang="it-IT" sz="1400" noProof="0" dirty="0"/>
          </a:p>
        </p:txBody>
      </p:sp>
      <p:sp>
        <p:nvSpPr>
          <p:cNvPr id="16" name="st6"/>
          <p:cNvSpPr/>
          <p:nvPr/>
        </p:nvSpPr>
        <p:spPr>
          <a:xfrm>
            <a:off x="11785600" y="2717800"/>
            <a:ext cx="2159000" cy="787400"/>
          </a:xfrm>
          <a:prstGeom prst="roundRect">
            <a:avLst>
              <a:gd name="adj" fmla="val 6452"/>
            </a:avLst>
          </a:prstGeom>
          <a:solidFill>
            <a:srgbClr val="EAF7F6"/>
          </a:solidFill>
          <a:ln w="254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7" name="st6t"/>
          <p:cNvSpPr/>
          <p:nvPr/>
        </p:nvSpPr>
        <p:spPr>
          <a:xfrm>
            <a:off x="11988800" y="2959100"/>
            <a:ext cx="1752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 err="1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Uploading</a:t>
            </a:r>
            <a:r>
              <a:rPr lang="it-IT" sz="1400" noProof="0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it-IT" sz="1400" noProof="0" dirty="0" err="1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</a:t>
            </a:r>
            <a:endParaRPr lang="it-IT" sz="1400" noProof="0" dirty="0"/>
          </a:p>
        </p:txBody>
      </p:sp>
      <p:sp>
        <p:nvSpPr>
          <p:cNvPr id="18" name="done"/>
          <p:cNvSpPr/>
          <p:nvPr/>
        </p:nvSpPr>
        <p:spPr>
          <a:xfrm>
            <a:off x="14376400" y="2717800"/>
            <a:ext cx="1117600" cy="787400"/>
          </a:xfrm>
          <a:prstGeom prst="roundRect">
            <a:avLst>
              <a:gd name="adj" fmla="val 6452"/>
            </a:avLst>
          </a:prstGeom>
          <a:solidFill>
            <a:srgbClr val="0B192C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9" name="done-t"/>
          <p:cNvSpPr/>
          <p:nvPr/>
        </p:nvSpPr>
        <p:spPr>
          <a:xfrm>
            <a:off x="14566900" y="295910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Done</a:t>
            </a:r>
            <a:endParaRPr lang="it-IT" sz="1400" noProof="0" dirty="0"/>
          </a:p>
        </p:txBody>
      </p:sp>
      <p:sp>
        <p:nvSpPr>
          <p:cNvPr id="20" name="ar1"/>
          <p:cNvSpPr/>
          <p:nvPr/>
        </p:nvSpPr>
        <p:spPr>
          <a:xfrm>
            <a:off x="2717800" y="3111500"/>
            <a:ext cx="431800" cy="9144"/>
          </a:xfrm>
          <a:prstGeom prst="line">
            <a:avLst/>
          </a:prstGeom>
          <a:ln w="25400">
            <a:solidFill>
              <a:srgbClr val="0B192C"/>
            </a:solidFill>
            <a:prstDash val="solid"/>
            <a:tailEnd type="triangle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1" name="ar2"/>
          <p:cNvSpPr/>
          <p:nvPr/>
        </p:nvSpPr>
        <p:spPr>
          <a:xfrm>
            <a:off x="4876800" y="3111500"/>
            <a:ext cx="431800" cy="9144"/>
          </a:xfrm>
          <a:prstGeom prst="line">
            <a:avLst/>
          </a:prstGeom>
          <a:ln w="25400">
            <a:solidFill>
              <a:srgbClr val="0B192C"/>
            </a:solidFill>
            <a:prstDash val="solid"/>
            <a:tailEnd type="triangle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2" name="ar3"/>
          <p:cNvSpPr/>
          <p:nvPr/>
        </p:nvSpPr>
        <p:spPr>
          <a:xfrm>
            <a:off x="6908800" y="3111500"/>
            <a:ext cx="431800" cy="9144"/>
          </a:xfrm>
          <a:prstGeom prst="line">
            <a:avLst/>
          </a:prstGeom>
          <a:ln w="25400">
            <a:solidFill>
              <a:srgbClr val="0B192C"/>
            </a:solidFill>
            <a:prstDash val="solid"/>
            <a:tailEnd type="triangle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3" name="ar4"/>
          <p:cNvSpPr/>
          <p:nvPr/>
        </p:nvSpPr>
        <p:spPr>
          <a:xfrm>
            <a:off x="9144000" y="3111500"/>
            <a:ext cx="431800" cy="9144"/>
          </a:xfrm>
          <a:prstGeom prst="line">
            <a:avLst/>
          </a:prstGeom>
          <a:ln w="25400">
            <a:solidFill>
              <a:srgbClr val="0B192C"/>
            </a:solidFill>
            <a:prstDash val="solid"/>
            <a:tailEnd type="triangle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4" name="ar5"/>
          <p:cNvSpPr/>
          <p:nvPr/>
        </p:nvSpPr>
        <p:spPr>
          <a:xfrm>
            <a:off x="11353800" y="3111500"/>
            <a:ext cx="431800" cy="9144"/>
          </a:xfrm>
          <a:prstGeom prst="line">
            <a:avLst/>
          </a:prstGeom>
          <a:ln w="25400">
            <a:solidFill>
              <a:srgbClr val="0B192C"/>
            </a:solidFill>
            <a:prstDash val="solid"/>
            <a:tailEnd type="triangle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5" name="ar6"/>
          <p:cNvSpPr/>
          <p:nvPr/>
        </p:nvSpPr>
        <p:spPr>
          <a:xfrm>
            <a:off x="13944600" y="3111500"/>
            <a:ext cx="431800" cy="9144"/>
          </a:xfrm>
          <a:prstGeom prst="line">
            <a:avLst/>
          </a:prstGeom>
          <a:ln w="25400">
            <a:solidFill>
              <a:srgbClr val="0B192C"/>
            </a:solidFill>
            <a:prstDash val="solid"/>
            <a:tailEnd type="triangle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6" name="streams"/>
          <p:cNvSpPr/>
          <p:nvPr/>
        </p:nvSpPr>
        <p:spPr>
          <a:xfrm>
            <a:off x="762000" y="4318000"/>
            <a:ext cx="6781800" cy="299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7" name="streams-title"/>
          <p:cNvSpPr/>
          <p:nvPr/>
        </p:nvSpPr>
        <p:spPr>
          <a:xfrm>
            <a:off x="1092200" y="4673600"/>
            <a:ext cx="558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Due stream, un monitor verificabile</a:t>
            </a:r>
            <a:endParaRPr lang="it-IT" sz="2400" noProof="0" dirty="0"/>
          </a:p>
        </p:txBody>
      </p:sp>
      <p:sp>
        <p:nvSpPr>
          <p:cNvPr id="28" name="streams-copy"/>
          <p:cNvSpPr/>
          <p:nvPr/>
        </p:nvSpPr>
        <p:spPr>
          <a:xfrm>
            <a:off x="1092200" y="5257800"/>
            <a:ext cx="5715000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430"/>
              </a:lnSpc>
              <a:spcBef>
                <a:spcPts val="10"/>
              </a:spcBef>
              <a:buSzPct val="100000"/>
              <a:buFont typeface="Arial" panose="020B0604020202020204" pitchFamily="34" charset="0"/>
              <a:buChar char="•"/>
            </a:pPr>
            <a:r>
              <a:rPr lang="it-IT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DUT e hardware di test producono </a:t>
            </a:r>
            <a:r>
              <a:rPr lang="it-IT" noProof="0" dirty="0" err="1">
                <a:solidFill>
                  <a:srgbClr val="11182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IAsyncEnumerable</a:t>
            </a:r>
            <a:r>
              <a:rPr lang="it-IT" noProof="0" dirty="0">
                <a:solidFill>
                  <a:srgbClr val="11182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&lt;</a:t>
            </a:r>
            <a:r>
              <a:rPr lang="it-IT" noProof="0" dirty="0" err="1">
                <a:solidFill>
                  <a:srgbClr val="11182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MeterReading</a:t>
            </a:r>
            <a:r>
              <a:rPr lang="it-IT" noProof="0" dirty="0">
                <a:solidFill>
                  <a:srgbClr val="11182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it-IT" noProof="0" dirty="0"/>
          </a:p>
          <a:p>
            <a:pPr marL="285750" indent="-285750" algn="l">
              <a:lnSpc>
                <a:spcPts val="2160"/>
              </a:lnSpc>
              <a:spcBef>
                <a:spcPts val="10"/>
              </a:spcBef>
              <a:buSzPct val="100000"/>
              <a:buFont typeface="Arial" panose="020B0604020202020204" pitchFamily="34" charset="0"/>
              <a:buChar char="•"/>
            </a:pPr>
            <a:r>
              <a:rPr lang="it-IT" noProof="0" dirty="0" err="1">
                <a:solidFill>
                  <a:srgbClr val="11182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ReadingMonitor</a:t>
            </a:r>
            <a:r>
              <a:rPr lang="it-IT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 fa convergere in un </a:t>
            </a:r>
            <a:r>
              <a:rPr lang="it-IT" noProof="0" dirty="0">
                <a:solidFill>
                  <a:srgbClr val="11182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Channel</a:t>
            </a:r>
            <a:endParaRPr lang="it-IT" noProof="0" dirty="0"/>
          </a:p>
          <a:p>
            <a:pPr marL="285750" indent="-285750" algn="l">
              <a:lnSpc>
                <a:spcPts val="2430"/>
              </a:lnSpc>
              <a:spcBef>
                <a:spcPts val="10"/>
              </a:spcBef>
              <a:buSzPct val="100000"/>
              <a:buFont typeface="Arial" panose="020B0604020202020204" pitchFamily="34" charset="0"/>
              <a:buChar char="•"/>
            </a:pPr>
            <a:r>
              <a:rPr lang="it-IT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UI riceve progress aggiornato senza bloccare il </a:t>
            </a:r>
            <a:r>
              <a:rPr lang="it-IT" noProof="0" dirty="0" err="1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</a:t>
            </a:r>
            <a:r>
              <a:rPr lang="it-IT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grafico</a:t>
            </a:r>
            <a:endParaRPr lang="it-IT" noProof="0" dirty="0"/>
          </a:p>
        </p:txBody>
      </p:sp>
      <p:sp>
        <p:nvSpPr>
          <p:cNvPr id="29" name="invariant"/>
          <p:cNvSpPr/>
          <p:nvPr/>
        </p:nvSpPr>
        <p:spPr>
          <a:xfrm>
            <a:off x="8128000" y="4318000"/>
            <a:ext cx="7366000" cy="2997200"/>
          </a:xfrm>
          <a:prstGeom prst="rect">
            <a:avLst/>
          </a:prstGeom>
          <a:solidFill>
            <a:srgbClr val="0B192C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30" name="invariant-label"/>
          <p:cNvSpPr/>
          <p:nvPr/>
        </p:nvSpPr>
        <p:spPr>
          <a:xfrm>
            <a:off x="8483600" y="4699000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INVARIANTE DI QUALITÀ</a:t>
            </a:r>
            <a:endParaRPr lang="it-IT" sz="1400" noProof="0" dirty="0"/>
          </a:p>
        </p:txBody>
      </p:sp>
      <p:sp>
        <p:nvSpPr>
          <p:cNvPr id="31" name="invariant-title"/>
          <p:cNvSpPr/>
          <p:nvPr/>
        </p:nvSpPr>
        <p:spPr>
          <a:xfrm>
            <a:off x="8483600" y="5232400"/>
            <a:ext cx="635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8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Il risultato finale richiede</a:t>
            </a:r>
            <a:endParaRPr lang="it-IT" sz="2800" noProof="0" dirty="0"/>
          </a:p>
          <a:p>
            <a:pPr marL="0" indent="0" algn="l">
              <a:buNone/>
            </a:pPr>
            <a:r>
              <a:rPr lang="it-IT" sz="28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campioni correlati.</a:t>
            </a:r>
            <a:endParaRPr lang="it-IT" sz="2800" noProof="0" dirty="0"/>
          </a:p>
        </p:txBody>
      </p:sp>
      <p:sp>
        <p:nvSpPr>
          <p:cNvPr id="32" name="invariant-copy"/>
          <p:cNvSpPr/>
          <p:nvPr/>
        </p:nvSpPr>
        <p:spPr>
          <a:xfrm>
            <a:off x="8483600" y="6350000"/>
            <a:ext cx="622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noProof="0" dirty="0">
                <a:solidFill>
                  <a:srgbClr val="D8E2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Gli ultimi valori devono condividere la stessa </a:t>
            </a:r>
            <a:r>
              <a:rPr lang="it-IT" sz="1800" b="1" noProof="0" dirty="0" err="1">
                <a:solidFill>
                  <a:srgbClr val="D8E2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Sequence</a:t>
            </a:r>
            <a:r>
              <a:rPr lang="it-IT" sz="1800" noProof="0" dirty="0">
                <a:solidFill>
                  <a:srgbClr val="D8E2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altrimenti il risultato non è dimostrabile.</a:t>
            </a:r>
            <a:endParaRPr lang="it-IT" sz="1800" noProof="0" dirty="0"/>
          </a:p>
        </p:txBody>
      </p:sp>
      <p:sp>
        <p:nvSpPr>
          <p:cNvPr id="33" name="footer"/>
          <p:cNvSpPr/>
          <p:nvPr/>
        </p:nvSpPr>
        <p:spPr>
          <a:xfrm>
            <a:off x="762000" y="85852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 Charging Test System · Case study</a:t>
            </a:r>
            <a:endParaRPr lang="it-IT" sz="1400" noProof="0" dirty="0"/>
          </a:p>
        </p:txBody>
      </p:sp>
      <p:sp>
        <p:nvSpPr>
          <p:cNvPr id="34" name="page"/>
          <p:cNvSpPr/>
          <p:nvPr/>
        </p:nvSpPr>
        <p:spPr>
          <a:xfrm>
            <a:off x="13716000" y="8585200"/>
            <a:ext cx="177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11</a:t>
            </a:r>
            <a:endParaRPr lang="it-IT" sz="1400" noProof="0" dirty="0"/>
          </a:p>
        </p:txBody>
      </p:sp>
      <p:sp>
        <p:nvSpPr>
          <p:cNvPr id="35" name="register"/>
          <p:cNvSpPr/>
          <p:nvPr/>
        </p:nvSpPr>
        <p:spPr>
          <a:xfrm>
            <a:off x="15303500" y="330200"/>
            <a:ext cx="190500" cy="190500"/>
          </a:xfrm>
          <a:prstGeom prst="rect">
            <a:avLst/>
          </a:prstGeom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/>
          <p:nvPr/>
        </p:nvSpPr>
        <p:spPr>
          <a:xfrm>
            <a:off x="762000" y="3556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ESTENDIBILITÀ</a:t>
            </a:r>
            <a:endParaRPr lang="it-IT" sz="1400" noProof="0" dirty="0"/>
          </a:p>
        </p:txBody>
      </p:sp>
      <p:sp>
        <p:nvSpPr>
          <p:cNvPr id="3" name="title"/>
          <p:cNvSpPr/>
          <p:nvPr/>
        </p:nvSpPr>
        <p:spPr>
          <a:xfrm>
            <a:off x="762000" y="863600"/>
            <a:ext cx="1270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3200" noProof="0" dirty="0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Capability prima dei protocolli</a:t>
            </a:r>
            <a:endParaRPr lang="it-IT" sz="3200" noProof="0" dirty="0"/>
          </a:p>
        </p:txBody>
      </p:sp>
      <p:sp>
        <p:nvSpPr>
          <p:cNvPr id="4" name="intro"/>
          <p:cNvSpPr/>
          <p:nvPr/>
        </p:nvSpPr>
        <p:spPr>
          <a:xfrm>
            <a:off x="762000" y="1600200"/>
            <a:ext cx="1320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caso d’uso chiede cosa un dispositivo sa fare, non come inviare un frame a uno specifico </a:t>
            </a:r>
            <a:r>
              <a:rPr lang="it-IT" sz="1800" noProof="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</a:t>
            </a:r>
            <a:r>
              <a:rPr lang="it-IT" sz="18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it-IT" sz="1800" noProof="0" dirty="0"/>
          </a:p>
        </p:txBody>
      </p:sp>
      <p:sp>
        <p:nvSpPr>
          <p:cNvPr id="5" name="base"/>
          <p:cNvSpPr/>
          <p:nvPr/>
        </p:nvSpPr>
        <p:spPr>
          <a:xfrm>
            <a:off x="5969000" y="2336800"/>
            <a:ext cx="4318000" cy="1066800"/>
          </a:xfrm>
          <a:prstGeom prst="rect">
            <a:avLst/>
          </a:prstGeom>
          <a:solidFill>
            <a:srgbClr val="0B192C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6" name="base-t"/>
          <p:cNvSpPr/>
          <p:nvPr/>
        </p:nvSpPr>
        <p:spPr>
          <a:xfrm>
            <a:off x="6273800" y="2590800"/>
            <a:ext cx="3708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 err="1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IConnector</a:t>
            </a:r>
            <a:endParaRPr lang="it-IT" sz="2400" noProof="0" dirty="0"/>
          </a:p>
        </p:txBody>
      </p:sp>
      <p:sp>
        <p:nvSpPr>
          <p:cNvPr id="7" name="base-b"/>
          <p:cNvSpPr/>
          <p:nvPr/>
        </p:nvSpPr>
        <p:spPr>
          <a:xfrm>
            <a:off x="6273800" y="3022600"/>
            <a:ext cx="370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 err="1">
                <a:solidFill>
                  <a:srgbClr val="D8E2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</a:t>
            </a:r>
            <a:r>
              <a:rPr lang="it-IT" sz="1400" noProof="0" dirty="0">
                <a:solidFill>
                  <a:srgbClr val="D8E2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lang="it-IT" sz="1400" noProof="0" dirty="0" err="1">
                <a:solidFill>
                  <a:srgbClr val="D8E2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disconnect</a:t>
            </a:r>
            <a:r>
              <a:rPr lang="it-IT" sz="1400" noProof="0" dirty="0">
                <a:solidFill>
                  <a:srgbClr val="D8E2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dispose</a:t>
            </a:r>
            <a:endParaRPr lang="it-IT" sz="1400" noProof="0" dirty="0"/>
          </a:p>
        </p:txBody>
      </p:sp>
      <p:sp>
        <p:nvSpPr>
          <p:cNvPr id="8" name="role-left"/>
          <p:cNvSpPr/>
          <p:nvPr/>
        </p:nvSpPr>
        <p:spPr>
          <a:xfrm>
            <a:off x="1676400" y="4495800"/>
            <a:ext cx="4445000" cy="1549400"/>
          </a:xfrm>
          <a:prstGeom prst="rect">
            <a:avLst/>
          </a:prstGeom>
          <a:solidFill>
            <a:srgbClr val="EAF1FF"/>
          </a:solidFill>
          <a:ln w="25400">
            <a:solidFill>
              <a:srgbClr val="0055FF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9" name="role-left-t"/>
          <p:cNvSpPr/>
          <p:nvPr/>
        </p:nvSpPr>
        <p:spPr>
          <a:xfrm>
            <a:off x="2006600" y="4800600"/>
            <a:ext cx="3784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 err="1">
                <a:solidFill>
                  <a:srgbClr val="00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IDutConnector</a:t>
            </a:r>
            <a:endParaRPr lang="it-IT" sz="2400" noProof="0" dirty="0"/>
          </a:p>
        </p:txBody>
      </p:sp>
      <p:sp>
        <p:nvSpPr>
          <p:cNvPr id="10" name="role-left-b"/>
          <p:cNvSpPr/>
          <p:nvPr/>
        </p:nvSpPr>
        <p:spPr>
          <a:xfrm>
            <a:off x="2006600" y="5334000"/>
            <a:ext cx="3733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avvio ricarica · letture dichiarate</a:t>
            </a:r>
            <a:endParaRPr lang="it-IT" sz="1400" noProof="0" dirty="0"/>
          </a:p>
        </p:txBody>
      </p:sp>
      <p:sp>
        <p:nvSpPr>
          <p:cNvPr id="11" name="role-right"/>
          <p:cNvSpPr/>
          <p:nvPr/>
        </p:nvSpPr>
        <p:spPr>
          <a:xfrm>
            <a:off x="9653287" y="4495800"/>
            <a:ext cx="5301204" cy="1549400"/>
          </a:xfrm>
          <a:prstGeom prst="rect">
            <a:avLst/>
          </a:prstGeom>
          <a:solidFill>
            <a:srgbClr val="EAF7F6"/>
          </a:solidFill>
          <a:ln w="254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2" name="role-right-t"/>
          <p:cNvSpPr/>
          <p:nvPr/>
        </p:nvSpPr>
        <p:spPr>
          <a:xfrm>
            <a:off x="9982200" y="4800600"/>
            <a:ext cx="477552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 err="1">
                <a:solidFill>
                  <a:srgbClr val="006D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ITestSystemHardwareConnector</a:t>
            </a:r>
            <a:endParaRPr lang="it-IT" sz="2400" noProof="0" dirty="0"/>
          </a:p>
        </p:txBody>
      </p:sp>
      <p:sp>
        <p:nvSpPr>
          <p:cNvPr id="13" name="role-right-b"/>
          <p:cNvSpPr/>
          <p:nvPr/>
        </p:nvSpPr>
        <p:spPr>
          <a:xfrm>
            <a:off x="10464800" y="5334000"/>
            <a:ext cx="3733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armamento · misura di riferimento</a:t>
            </a:r>
            <a:endParaRPr lang="it-IT" sz="1400" noProof="0" dirty="0"/>
          </a:p>
        </p:txBody>
      </p:sp>
      <p:sp>
        <p:nvSpPr>
          <p:cNvPr id="14" name="split-l"/>
          <p:cNvSpPr/>
          <p:nvPr/>
        </p:nvSpPr>
        <p:spPr>
          <a:xfrm flipH="1">
            <a:off x="3898900" y="2844800"/>
            <a:ext cx="2070100" cy="1651000"/>
          </a:xfrm>
          <a:prstGeom prst="bentConnector3">
            <a:avLst>
              <a:gd name="adj1" fmla="val 99901"/>
            </a:avLst>
          </a:prstGeom>
          <a:ln w="25400">
            <a:solidFill>
              <a:srgbClr val="0B192C"/>
            </a:solidFill>
            <a:prstDash val="solid"/>
            <a:tailEnd type="triangle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5" name="split-r"/>
          <p:cNvSpPr/>
          <p:nvPr/>
        </p:nvSpPr>
        <p:spPr>
          <a:xfrm>
            <a:off x="10287000" y="2844800"/>
            <a:ext cx="2070100" cy="1651000"/>
          </a:xfrm>
          <a:prstGeom prst="bentConnector3">
            <a:avLst>
              <a:gd name="adj1" fmla="val 99901"/>
            </a:avLst>
          </a:prstGeom>
          <a:ln w="25400">
            <a:solidFill>
              <a:srgbClr val="0B192C"/>
            </a:solidFill>
            <a:prstDash val="solid"/>
            <a:tailEnd type="triangle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6" name="factory"/>
          <p:cNvSpPr/>
          <p:nvPr/>
        </p:nvSpPr>
        <p:spPr>
          <a:xfrm>
            <a:off x="4953000" y="6705600"/>
            <a:ext cx="6350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7" name="factory-t"/>
          <p:cNvSpPr/>
          <p:nvPr/>
        </p:nvSpPr>
        <p:spPr>
          <a:xfrm>
            <a:off x="5283200" y="69596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 err="1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IConnectorFactory</a:t>
            </a:r>
            <a:r>
              <a:rPr lang="it-IT" sz="2400" noProof="0" dirty="0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/ </a:t>
            </a:r>
            <a:r>
              <a:rPr lang="it-IT" sz="2400" noProof="0" dirty="0" err="1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registry</a:t>
            </a:r>
            <a:endParaRPr lang="it-IT" sz="2400" noProof="0" dirty="0"/>
          </a:p>
        </p:txBody>
      </p:sp>
      <p:sp>
        <p:nvSpPr>
          <p:cNvPr id="18" name="factory-b"/>
          <p:cNvSpPr/>
          <p:nvPr/>
        </p:nvSpPr>
        <p:spPr>
          <a:xfrm>
            <a:off x="5283200" y="73660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seleziona </a:t>
            </a:r>
            <a:r>
              <a:rPr lang="it-IT" sz="1400" noProof="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l’adapter</a:t>
            </a: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base a setup MES, modello e capability</a:t>
            </a:r>
            <a:endParaRPr lang="it-IT" sz="1400" noProof="0" dirty="0"/>
          </a:p>
        </p:txBody>
      </p:sp>
      <p:sp>
        <p:nvSpPr>
          <p:cNvPr id="19" name="factory-left"/>
          <p:cNvSpPr/>
          <p:nvPr/>
        </p:nvSpPr>
        <p:spPr>
          <a:xfrm>
            <a:off x="4889500" y="6045200"/>
            <a:ext cx="787400" cy="660400"/>
          </a:xfrm>
          <a:prstGeom prst="line">
            <a:avLst/>
          </a:prstGeom>
          <a:ln w="25400">
            <a:solidFill>
              <a:srgbClr val="0055FF"/>
            </a:solidFill>
            <a:prstDash val="solid"/>
            <a:tailEnd type="triangle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0" name="factory-right"/>
          <p:cNvSpPr/>
          <p:nvPr/>
        </p:nvSpPr>
        <p:spPr>
          <a:xfrm flipH="1">
            <a:off x="10439400" y="6045200"/>
            <a:ext cx="3149600" cy="660400"/>
          </a:xfrm>
          <a:prstGeom prst="line">
            <a:avLst/>
          </a:prstGeom>
          <a:ln w="25400">
            <a:solidFill>
              <a:srgbClr val="006D77"/>
            </a:solidFill>
            <a:prstDash val="solid"/>
            <a:tailEnd type="triangle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1" name="proto-left"/>
          <p:cNvSpPr/>
          <p:nvPr/>
        </p:nvSpPr>
        <p:spPr>
          <a:xfrm>
            <a:off x="762000" y="6756400"/>
            <a:ext cx="3048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/ MQTT</a:t>
            </a:r>
            <a:endParaRPr lang="it-IT" sz="1400" noProof="0" dirty="0"/>
          </a:p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DUT reale o </a:t>
            </a:r>
            <a:r>
              <a:rPr lang="it-IT" sz="1400" noProof="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mock</a:t>
            </a:r>
            <a:endParaRPr lang="it-IT" sz="1400" noProof="0" dirty="0"/>
          </a:p>
        </p:txBody>
      </p:sp>
      <p:sp>
        <p:nvSpPr>
          <p:cNvPr id="22" name="proto-right"/>
          <p:cNvSpPr/>
          <p:nvPr/>
        </p:nvSpPr>
        <p:spPr>
          <a:xfrm>
            <a:off x="12242800" y="6756400"/>
            <a:ext cx="32512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it-IT" sz="1400" noProof="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Modbus</a:t>
            </a: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TCP</a:t>
            </a:r>
            <a:endParaRPr lang="it-IT" sz="1400" noProof="0" dirty="0"/>
          </a:p>
          <a:p>
            <a:pPr marL="0" indent="0" algn="r">
              <a:buNone/>
            </a:pPr>
            <a:r>
              <a:rPr lang="it-IT" sz="1400" noProof="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meter</a:t>
            </a: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 riferimento</a:t>
            </a:r>
            <a:endParaRPr lang="it-IT" sz="1400" noProof="0" dirty="0"/>
          </a:p>
        </p:txBody>
      </p:sp>
      <p:sp>
        <p:nvSpPr>
          <p:cNvPr id="23" name="footer"/>
          <p:cNvSpPr/>
          <p:nvPr/>
        </p:nvSpPr>
        <p:spPr>
          <a:xfrm>
            <a:off x="762000" y="85852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 Charging Test System · Case study</a:t>
            </a:r>
            <a:endParaRPr lang="it-IT" sz="1400" noProof="0" dirty="0"/>
          </a:p>
        </p:txBody>
      </p:sp>
      <p:sp>
        <p:nvSpPr>
          <p:cNvPr id="24" name="page"/>
          <p:cNvSpPr/>
          <p:nvPr/>
        </p:nvSpPr>
        <p:spPr>
          <a:xfrm>
            <a:off x="13716000" y="8585200"/>
            <a:ext cx="177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11</a:t>
            </a:r>
            <a:endParaRPr lang="it-IT" sz="1400" noProof="0" dirty="0"/>
          </a:p>
        </p:txBody>
      </p:sp>
      <p:sp>
        <p:nvSpPr>
          <p:cNvPr id="25" name="register"/>
          <p:cNvSpPr/>
          <p:nvPr/>
        </p:nvSpPr>
        <p:spPr>
          <a:xfrm>
            <a:off x="15303500" y="330200"/>
            <a:ext cx="190500" cy="190500"/>
          </a:xfrm>
          <a:prstGeom prst="rect">
            <a:avLst/>
          </a:prstGeom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/>
          <p:nvPr/>
        </p:nvSpPr>
        <p:spPr>
          <a:xfrm>
            <a:off x="762000" y="3556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INTEGRAZIONE MES</a:t>
            </a:r>
            <a:endParaRPr lang="it-IT" sz="1400" noProof="0" dirty="0"/>
          </a:p>
        </p:txBody>
      </p:sp>
      <p:sp>
        <p:nvSpPr>
          <p:cNvPr id="3" name="title"/>
          <p:cNvSpPr/>
          <p:nvPr/>
        </p:nvSpPr>
        <p:spPr>
          <a:xfrm>
            <a:off x="762000" y="863600"/>
            <a:ext cx="1270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3200" noProof="0" dirty="0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MES REST: contratto esplicito e dimostrabile</a:t>
            </a:r>
            <a:endParaRPr lang="it-IT" sz="3200" noProof="0" dirty="0"/>
          </a:p>
        </p:txBody>
      </p:sp>
      <p:sp>
        <p:nvSpPr>
          <p:cNvPr id="4" name="intro"/>
          <p:cNvSpPr/>
          <p:nvPr/>
        </p:nvSpPr>
        <p:spPr>
          <a:xfrm>
            <a:off x="762000" y="1600200"/>
            <a:ext cx="137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case study richiede una connessione al MES via API; lo skeleton rende il confine HTTP verificabile senza affermare di implementare il MES reale.</a:t>
            </a:r>
            <a:endParaRPr lang="it-IT" sz="1800" noProof="0" dirty="0"/>
          </a:p>
        </p:txBody>
      </p:sp>
      <p:sp>
        <p:nvSpPr>
          <p:cNvPr id="5" name="api-pane"/>
          <p:cNvSpPr/>
          <p:nvPr/>
        </p:nvSpPr>
        <p:spPr>
          <a:xfrm>
            <a:off x="762000" y="2336800"/>
            <a:ext cx="6921500" cy="4241800"/>
          </a:xfrm>
          <a:prstGeom prst="rect">
            <a:avLst/>
          </a:prstGeom>
          <a:solidFill>
            <a:srgbClr val="0B192C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6" name="api-kicker"/>
          <p:cNvSpPr/>
          <p:nvPr/>
        </p:nvSpPr>
        <p:spPr>
          <a:xfrm>
            <a:off x="1117600" y="2667000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 RESOURCES</a:t>
            </a:r>
            <a:endParaRPr lang="it-IT" sz="1400" noProof="0" dirty="0"/>
          </a:p>
        </p:txBody>
      </p:sp>
      <p:sp>
        <p:nvSpPr>
          <p:cNvPr id="7" name="get"/>
          <p:cNvSpPr/>
          <p:nvPr/>
        </p:nvSpPr>
        <p:spPr>
          <a:xfrm>
            <a:off x="1117600" y="3276600"/>
            <a:ext cx="596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noProof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GET  </a:t>
            </a:r>
          </a:p>
          <a:p>
            <a:pPr marL="0" indent="0" algn="l">
              <a:buNone/>
            </a:pPr>
            <a:r>
              <a:rPr lang="it-IT" sz="1800" noProof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/api/test-sessions/{</a:t>
            </a:r>
            <a:r>
              <a:rPr lang="it-IT" sz="1800" noProof="0" dirty="0" err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serialNumber</a:t>
            </a:r>
            <a:r>
              <a:rPr lang="it-IT" sz="1800" noProof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}/setup</a:t>
            </a:r>
            <a:endParaRPr lang="it-IT" sz="1800" noProof="0" dirty="0"/>
          </a:p>
        </p:txBody>
      </p:sp>
      <p:sp>
        <p:nvSpPr>
          <p:cNvPr id="8" name="get-note"/>
          <p:cNvSpPr/>
          <p:nvPr/>
        </p:nvSpPr>
        <p:spPr>
          <a:xfrm>
            <a:off x="1117600" y="391160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D8E2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recupera specifica, tolleranze e configurazione dei connettori</a:t>
            </a:r>
            <a:endParaRPr lang="it-IT" sz="1400" noProof="0" dirty="0"/>
          </a:p>
        </p:txBody>
      </p:sp>
      <p:sp>
        <p:nvSpPr>
          <p:cNvPr id="9" name="api-divider"/>
          <p:cNvSpPr/>
          <p:nvPr/>
        </p:nvSpPr>
        <p:spPr>
          <a:xfrm>
            <a:off x="1117600" y="4572000"/>
            <a:ext cx="5461000" cy="9144"/>
          </a:xfrm>
          <a:prstGeom prst="line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put"/>
          <p:cNvSpPr/>
          <p:nvPr/>
        </p:nvSpPr>
        <p:spPr>
          <a:xfrm>
            <a:off x="1117600" y="5003800"/>
            <a:ext cx="596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noProof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PUT  </a:t>
            </a:r>
          </a:p>
          <a:p>
            <a:pPr marL="0" indent="0" algn="l">
              <a:buNone/>
            </a:pPr>
            <a:r>
              <a:rPr lang="it-IT" sz="1800" noProof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/api/test-sessions/{</a:t>
            </a:r>
            <a:r>
              <a:rPr lang="it-IT" sz="1800" noProof="0" dirty="0" err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sessionId</a:t>
            </a:r>
            <a:r>
              <a:rPr lang="it-IT" sz="1800" noProof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}/</a:t>
            </a:r>
            <a:r>
              <a:rPr lang="it-IT" sz="1800" noProof="0" dirty="0" err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result</a:t>
            </a:r>
            <a:endParaRPr lang="it-IT" sz="1800" noProof="0" dirty="0"/>
          </a:p>
        </p:txBody>
      </p:sp>
      <p:sp>
        <p:nvSpPr>
          <p:cNvPr id="11" name="put-note"/>
          <p:cNvSpPr/>
          <p:nvPr/>
        </p:nvSpPr>
        <p:spPr>
          <a:xfrm>
            <a:off x="1117600" y="563880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D8E2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salva l’esito verificabile della sessione</a:t>
            </a:r>
            <a:endParaRPr lang="it-IT" sz="1400" noProof="0" dirty="0"/>
          </a:p>
        </p:txBody>
      </p:sp>
      <p:sp>
        <p:nvSpPr>
          <p:cNvPr id="12" name="contract-pane"/>
          <p:cNvSpPr/>
          <p:nvPr/>
        </p:nvSpPr>
        <p:spPr>
          <a:xfrm>
            <a:off x="8305800" y="2336800"/>
            <a:ext cx="7188200" cy="424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3" name="contract-title"/>
          <p:cNvSpPr/>
          <p:nvPr/>
        </p:nvSpPr>
        <p:spPr>
          <a:xfrm>
            <a:off x="8686800" y="2667000"/>
            <a:ext cx="558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Separazione del confine REST</a:t>
            </a:r>
            <a:endParaRPr lang="it-IT" sz="2400" noProof="0" dirty="0"/>
          </a:p>
        </p:txBody>
      </p:sp>
      <p:sp>
        <p:nvSpPr>
          <p:cNvPr id="14" name="c1"/>
          <p:cNvSpPr/>
          <p:nvPr/>
        </p:nvSpPr>
        <p:spPr>
          <a:xfrm>
            <a:off x="8686800" y="3327400"/>
            <a:ext cx="2667000" cy="863600"/>
          </a:xfrm>
          <a:prstGeom prst="rect">
            <a:avLst/>
          </a:prstGeom>
          <a:solidFill>
            <a:srgbClr val="EAF1FF"/>
          </a:solidFill>
          <a:ln w="12700">
            <a:solidFill>
              <a:srgbClr val="0055FF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5" name="c1t"/>
          <p:cNvSpPr/>
          <p:nvPr/>
        </p:nvSpPr>
        <p:spPr>
          <a:xfrm>
            <a:off x="8890000" y="3530600"/>
            <a:ext cx="228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 err="1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Mes.Contracts</a:t>
            </a:r>
            <a:endParaRPr lang="it-IT" sz="1400" noProof="0" dirty="0"/>
          </a:p>
          <a:p>
            <a:pPr marL="0" indent="0" algn="l">
              <a:buNone/>
            </a:pPr>
            <a:r>
              <a:rPr lang="it-IT" sz="14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DTO JSON</a:t>
            </a:r>
            <a:endParaRPr lang="it-IT" sz="1400" noProof="0" dirty="0"/>
          </a:p>
        </p:txBody>
      </p:sp>
      <p:sp>
        <p:nvSpPr>
          <p:cNvPr id="16" name="c2"/>
          <p:cNvSpPr/>
          <p:nvPr/>
        </p:nvSpPr>
        <p:spPr>
          <a:xfrm>
            <a:off x="11988800" y="3327400"/>
            <a:ext cx="3124200" cy="863600"/>
          </a:xfrm>
          <a:prstGeom prst="rect">
            <a:avLst/>
          </a:prstGeom>
          <a:solidFill>
            <a:srgbClr val="EAF7F6"/>
          </a:solidFill>
          <a:ln w="127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7" name="c2t"/>
          <p:cNvSpPr/>
          <p:nvPr/>
        </p:nvSpPr>
        <p:spPr>
          <a:xfrm>
            <a:off x="12192000" y="3530600"/>
            <a:ext cx="2717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 err="1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HttpMesGateway</a:t>
            </a:r>
            <a:endParaRPr lang="it-IT" sz="1400" noProof="0" dirty="0"/>
          </a:p>
          <a:p>
            <a:pPr marL="0" indent="0" algn="l">
              <a:buNone/>
            </a:pPr>
            <a:r>
              <a:rPr lang="it-IT" sz="14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mapper + client</a:t>
            </a:r>
            <a:endParaRPr lang="it-IT" sz="1400" noProof="0" dirty="0"/>
          </a:p>
        </p:txBody>
      </p:sp>
      <p:sp>
        <p:nvSpPr>
          <p:cNvPr id="18" name="c3"/>
          <p:cNvSpPr/>
          <p:nvPr/>
        </p:nvSpPr>
        <p:spPr>
          <a:xfrm>
            <a:off x="8686800" y="4775200"/>
            <a:ext cx="6426200" cy="965200"/>
          </a:xfrm>
          <a:prstGeom prst="rect">
            <a:avLst/>
          </a:prstGeom>
          <a:solidFill>
            <a:srgbClr val="F3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9" name="c3t"/>
          <p:cNvSpPr/>
          <p:nvPr/>
        </p:nvSpPr>
        <p:spPr>
          <a:xfrm>
            <a:off x="8940800" y="5003800"/>
            <a:ext cx="584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 err="1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MesMock.Api</a:t>
            </a:r>
            <a:r>
              <a:rPr lang="it-IT" sz="14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Minimal API locale</a:t>
            </a:r>
            <a:endParaRPr lang="it-IT" sz="1400" noProof="0" dirty="0"/>
          </a:p>
          <a:p>
            <a:pPr marL="0" indent="0" algn="l">
              <a:buNone/>
            </a:pPr>
            <a:r>
              <a:rPr lang="it-IT" sz="14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manuale e test end-to-end</a:t>
            </a:r>
            <a:endParaRPr lang="it-IT" sz="1400" noProof="0" dirty="0"/>
          </a:p>
        </p:txBody>
      </p:sp>
      <p:sp>
        <p:nvSpPr>
          <p:cNvPr id="23" name="footer"/>
          <p:cNvSpPr/>
          <p:nvPr/>
        </p:nvSpPr>
        <p:spPr>
          <a:xfrm>
            <a:off x="762000" y="85852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 Charging Test System · Case study</a:t>
            </a:r>
            <a:endParaRPr lang="it-IT" sz="1400" noProof="0" dirty="0"/>
          </a:p>
        </p:txBody>
      </p:sp>
      <p:sp>
        <p:nvSpPr>
          <p:cNvPr id="24" name="page"/>
          <p:cNvSpPr/>
          <p:nvPr/>
        </p:nvSpPr>
        <p:spPr>
          <a:xfrm>
            <a:off x="13716000" y="8585200"/>
            <a:ext cx="177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11</a:t>
            </a:r>
            <a:endParaRPr lang="it-IT" sz="1400" noProof="0" dirty="0"/>
          </a:p>
        </p:txBody>
      </p:sp>
      <p:sp>
        <p:nvSpPr>
          <p:cNvPr id="25" name="register"/>
          <p:cNvSpPr/>
          <p:nvPr/>
        </p:nvSpPr>
        <p:spPr>
          <a:xfrm>
            <a:off x="15303500" y="330200"/>
            <a:ext cx="190500" cy="190500"/>
          </a:xfrm>
          <a:prstGeom prst="rect">
            <a:avLst/>
          </a:prstGeom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/>
          <p:nvPr/>
        </p:nvSpPr>
        <p:spPr>
          <a:xfrm>
            <a:off x="762000" y="3556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OPERATORE E QUALITÀ</a:t>
            </a:r>
            <a:endParaRPr lang="it-IT" sz="1400" noProof="0" dirty="0"/>
          </a:p>
        </p:txBody>
      </p:sp>
      <p:sp>
        <p:nvSpPr>
          <p:cNvPr id="3" name="title"/>
          <p:cNvSpPr/>
          <p:nvPr/>
        </p:nvSpPr>
        <p:spPr>
          <a:xfrm>
            <a:off x="762000" y="863600"/>
            <a:ext cx="1270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3200" noProof="0" dirty="0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Una demo utile anche per chi opera e per chi la evolve</a:t>
            </a:r>
            <a:endParaRPr lang="it-IT" sz="3200" noProof="0" dirty="0"/>
          </a:p>
        </p:txBody>
      </p:sp>
      <p:sp>
        <p:nvSpPr>
          <p:cNvPr id="4" name="ui-frame"/>
          <p:cNvSpPr/>
          <p:nvPr/>
        </p:nvSpPr>
        <p:spPr>
          <a:xfrm>
            <a:off x="762000" y="2260600"/>
            <a:ext cx="6477000" cy="5130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5" name="ui-top"/>
          <p:cNvSpPr/>
          <p:nvPr/>
        </p:nvSpPr>
        <p:spPr>
          <a:xfrm>
            <a:off x="762000" y="2260600"/>
            <a:ext cx="6477000" cy="660400"/>
          </a:xfrm>
          <a:prstGeom prst="rect">
            <a:avLst/>
          </a:prstGeom>
          <a:solidFill>
            <a:srgbClr val="0B192C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6" name="ui-title"/>
          <p:cNvSpPr/>
          <p:nvPr/>
        </p:nvSpPr>
        <p:spPr>
          <a:xfrm>
            <a:off x="1016000" y="2463800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SYSTEM — CHARGING SESSION</a:t>
            </a:r>
            <a:endParaRPr lang="it-IT" sz="1400" noProof="0" dirty="0"/>
          </a:p>
        </p:txBody>
      </p:sp>
      <p:sp>
        <p:nvSpPr>
          <p:cNvPr id="7" name="ui-lang"/>
          <p:cNvSpPr/>
          <p:nvPr/>
        </p:nvSpPr>
        <p:spPr>
          <a:xfrm>
            <a:off x="5080000" y="2438400"/>
            <a:ext cx="1803400" cy="304800"/>
          </a:xfrm>
          <a:prstGeom prst="rect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33000"/>
              </a:srgbClr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8" name="ui-lang-t"/>
          <p:cNvSpPr/>
          <p:nvPr/>
        </p:nvSpPr>
        <p:spPr>
          <a:xfrm>
            <a:off x="5232400" y="2514600"/>
            <a:ext cx="149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200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· EN · DE · JA</a:t>
            </a:r>
            <a:endParaRPr lang="it-IT" sz="1200" noProof="0" dirty="0"/>
          </a:p>
        </p:txBody>
      </p:sp>
      <p:sp>
        <p:nvSpPr>
          <p:cNvPr id="9" name="ui-serial"/>
          <p:cNvSpPr/>
          <p:nvPr/>
        </p:nvSpPr>
        <p:spPr>
          <a:xfrm>
            <a:off x="1066800" y="3225800"/>
            <a:ext cx="203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NUMERO DI SERIE</a:t>
            </a:r>
            <a:endParaRPr lang="it-IT" sz="1400" noProof="0" dirty="0"/>
          </a:p>
        </p:txBody>
      </p:sp>
      <p:sp>
        <p:nvSpPr>
          <p:cNvPr id="10" name="ui-input"/>
          <p:cNvSpPr/>
          <p:nvPr/>
        </p:nvSpPr>
        <p:spPr>
          <a:xfrm>
            <a:off x="1066800" y="3581400"/>
            <a:ext cx="3556000" cy="482600"/>
          </a:xfrm>
          <a:prstGeom prst="rect">
            <a:avLst/>
          </a:prstGeom>
          <a:solidFill>
            <a:srgbClr val="F3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1" name="ui-input-t"/>
          <p:cNvSpPr/>
          <p:nvPr/>
        </p:nvSpPr>
        <p:spPr>
          <a:xfrm>
            <a:off x="1219200" y="3708400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DEMO-0001</a:t>
            </a:r>
            <a:endParaRPr lang="it-IT" sz="1400" noProof="0" dirty="0"/>
          </a:p>
        </p:txBody>
      </p:sp>
      <p:sp>
        <p:nvSpPr>
          <p:cNvPr id="12" name="ui-start"/>
          <p:cNvSpPr/>
          <p:nvPr/>
        </p:nvSpPr>
        <p:spPr>
          <a:xfrm>
            <a:off x="4826000" y="3581400"/>
            <a:ext cx="1905000" cy="482600"/>
          </a:xfrm>
          <a:prstGeom prst="rect">
            <a:avLst/>
          </a:prstGeom>
          <a:solidFill>
            <a:srgbClr val="0055FF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3" name="ui-start-t"/>
          <p:cNvSpPr/>
          <p:nvPr/>
        </p:nvSpPr>
        <p:spPr>
          <a:xfrm>
            <a:off x="5054600" y="3708400"/>
            <a:ext cx="142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AVVIA</a:t>
            </a:r>
            <a:endParaRPr lang="it-IT" sz="1400" noProof="0" dirty="0"/>
          </a:p>
        </p:txBody>
      </p:sp>
      <p:sp>
        <p:nvSpPr>
          <p:cNvPr id="14" name="ui-metric-a"/>
          <p:cNvSpPr/>
          <p:nvPr/>
        </p:nvSpPr>
        <p:spPr>
          <a:xfrm>
            <a:off x="1066800" y="4445000"/>
            <a:ext cx="2540000" cy="1168400"/>
          </a:xfrm>
          <a:prstGeom prst="rect">
            <a:avLst/>
          </a:prstGeom>
          <a:solidFill>
            <a:srgbClr val="EAF1FF"/>
          </a:solidFill>
          <a:ln w="12700">
            <a:solidFill>
              <a:srgbClr val="0055FF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5" name="ui-metric-a1"/>
          <p:cNvSpPr/>
          <p:nvPr/>
        </p:nvSpPr>
        <p:spPr>
          <a:xfrm>
            <a:off x="1270000" y="4648200"/>
            <a:ext cx="203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DUT METER</a:t>
            </a:r>
            <a:endParaRPr lang="it-IT" sz="1400" noProof="0" dirty="0"/>
          </a:p>
        </p:txBody>
      </p:sp>
      <p:sp>
        <p:nvSpPr>
          <p:cNvPr id="16" name="ui-metric-a2"/>
          <p:cNvSpPr/>
          <p:nvPr/>
        </p:nvSpPr>
        <p:spPr>
          <a:xfrm>
            <a:off x="1270000" y="5054600"/>
            <a:ext cx="203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50.00 kW</a:t>
            </a:r>
            <a:endParaRPr lang="it-IT" sz="2400" noProof="0" dirty="0"/>
          </a:p>
        </p:txBody>
      </p:sp>
      <p:sp>
        <p:nvSpPr>
          <p:cNvPr id="17" name="ui-metric-b"/>
          <p:cNvSpPr/>
          <p:nvPr/>
        </p:nvSpPr>
        <p:spPr>
          <a:xfrm>
            <a:off x="3886200" y="4445000"/>
            <a:ext cx="2844800" cy="1168400"/>
          </a:xfrm>
          <a:prstGeom prst="rect">
            <a:avLst/>
          </a:prstGeom>
          <a:solidFill>
            <a:srgbClr val="EAF7F6"/>
          </a:solidFill>
          <a:ln w="127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8" name="ui-metric-b1"/>
          <p:cNvSpPr/>
          <p:nvPr/>
        </p:nvSpPr>
        <p:spPr>
          <a:xfrm>
            <a:off x="4089400" y="4648200"/>
            <a:ext cx="231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METER</a:t>
            </a:r>
            <a:endParaRPr lang="it-IT" sz="1400" noProof="0" dirty="0"/>
          </a:p>
        </p:txBody>
      </p:sp>
      <p:sp>
        <p:nvSpPr>
          <p:cNvPr id="19" name="ui-metric-b2"/>
          <p:cNvSpPr/>
          <p:nvPr/>
        </p:nvSpPr>
        <p:spPr>
          <a:xfrm>
            <a:off x="4089400" y="5054600"/>
            <a:ext cx="2159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50.00 kW</a:t>
            </a:r>
            <a:endParaRPr lang="it-IT" sz="2400" noProof="0" dirty="0"/>
          </a:p>
        </p:txBody>
      </p:sp>
      <p:sp>
        <p:nvSpPr>
          <p:cNvPr id="20" name="ui-diag"/>
          <p:cNvSpPr/>
          <p:nvPr/>
        </p:nvSpPr>
        <p:spPr>
          <a:xfrm>
            <a:off x="1066800" y="5969000"/>
            <a:ext cx="5664200" cy="1041400"/>
          </a:xfrm>
          <a:prstGeom prst="rect">
            <a:avLst/>
          </a:prstGeom>
          <a:solidFill>
            <a:srgbClr val="F3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1" name="ui-diag-t"/>
          <p:cNvSpPr/>
          <p:nvPr/>
        </p:nvSpPr>
        <p:spPr>
          <a:xfrm>
            <a:off x="1270000" y="6172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DIAGNOSTICA · STATO · DETTAGLIO ESITO</a:t>
            </a:r>
            <a:endParaRPr lang="it-IT" sz="1400" noProof="0" dirty="0"/>
          </a:p>
        </p:txBody>
      </p:sp>
      <p:sp>
        <p:nvSpPr>
          <p:cNvPr id="22" name="q1"/>
          <p:cNvSpPr/>
          <p:nvPr/>
        </p:nvSpPr>
        <p:spPr>
          <a:xfrm>
            <a:off x="8051800" y="2260600"/>
            <a:ext cx="3429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3" name="q1t"/>
          <p:cNvSpPr/>
          <p:nvPr/>
        </p:nvSpPr>
        <p:spPr>
          <a:xfrm>
            <a:off x="8356600" y="2590800"/>
            <a:ext cx="279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MVVM + </a:t>
            </a:r>
            <a:r>
              <a:rPr lang="it-IT" sz="2400" noProof="0" dirty="0" err="1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async</a:t>
            </a:r>
            <a:endParaRPr lang="it-IT" sz="2400" noProof="0" dirty="0"/>
          </a:p>
        </p:txBody>
      </p:sp>
      <p:sp>
        <p:nvSpPr>
          <p:cNvPr id="24" name="q1b"/>
          <p:cNvSpPr/>
          <p:nvPr/>
        </p:nvSpPr>
        <p:spPr>
          <a:xfrm>
            <a:off x="8356600" y="3149600"/>
            <a:ext cx="27178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binding</a:t>
            </a: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comandi asincroni e </a:t>
            </a:r>
            <a:r>
              <a:rPr lang="it-IT" sz="1400" noProof="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DispatcherQueue</a:t>
            </a: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proteggono la responsività della UI.</a:t>
            </a:r>
            <a:endParaRPr lang="it-IT" sz="1400" noProof="0" dirty="0"/>
          </a:p>
        </p:txBody>
      </p:sp>
      <p:sp>
        <p:nvSpPr>
          <p:cNvPr id="25" name="q2"/>
          <p:cNvSpPr/>
          <p:nvPr/>
        </p:nvSpPr>
        <p:spPr>
          <a:xfrm>
            <a:off x="11887200" y="2260600"/>
            <a:ext cx="36068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6" name="q2t"/>
          <p:cNvSpPr/>
          <p:nvPr/>
        </p:nvSpPr>
        <p:spPr>
          <a:xfrm>
            <a:off x="12192000" y="2590800"/>
            <a:ext cx="2946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Localizzazione</a:t>
            </a:r>
            <a:endParaRPr lang="it-IT" sz="2400" noProof="0" dirty="0"/>
          </a:p>
        </p:txBody>
      </p:sp>
      <p:sp>
        <p:nvSpPr>
          <p:cNvPr id="27" name="q2b"/>
          <p:cNvSpPr/>
          <p:nvPr/>
        </p:nvSpPr>
        <p:spPr>
          <a:xfrm>
            <a:off x="12192000" y="3149600"/>
            <a:ext cx="29464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italiano, inglese, tedesco e giapponese per validare Unicode e sostituibilità del provider.</a:t>
            </a:r>
            <a:endParaRPr lang="it-IT" sz="1400" noProof="0" dirty="0"/>
          </a:p>
        </p:txBody>
      </p:sp>
      <p:sp>
        <p:nvSpPr>
          <p:cNvPr id="28" name="q3"/>
          <p:cNvSpPr/>
          <p:nvPr/>
        </p:nvSpPr>
        <p:spPr>
          <a:xfrm>
            <a:off x="8051800" y="4927600"/>
            <a:ext cx="3429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9" name="q3t"/>
          <p:cNvSpPr/>
          <p:nvPr/>
        </p:nvSpPr>
        <p:spPr>
          <a:xfrm>
            <a:off x="8356600" y="5257800"/>
            <a:ext cx="279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Scenari demo</a:t>
            </a:r>
            <a:endParaRPr lang="it-IT" sz="2400" noProof="0" dirty="0"/>
          </a:p>
        </p:txBody>
      </p:sp>
      <p:sp>
        <p:nvSpPr>
          <p:cNvPr id="30" name="q3b"/>
          <p:cNvSpPr/>
          <p:nvPr/>
        </p:nvSpPr>
        <p:spPr>
          <a:xfrm>
            <a:off x="8356600" y="5816600"/>
            <a:ext cx="27178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bottoni dedicati per test MES assente e letture divergenti, sempre isolati dal MES configurato.</a:t>
            </a:r>
            <a:endParaRPr lang="it-IT" sz="1400" noProof="0" dirty="0"/>
          </a:p>
        </p:txBody>
      </p:sp>
      <p:sp>
        <p:nvSpPr>
          <p:cNvPr id="31" name="q4"/>
          <p:cNvSpPr/>
          <p:nvPr/>
        </p:nvSpPr>
        <p:spPr>
          <a:xfrm>
            <a:off x="11887200" y="4927600"/>
            <a:ext cx="36068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32" name="q4t"/>
          <p:cNvSpPr/>
          <p:nvPr/>
        </p:nvSpPr>
        <p:spPr>
          <a:xfrm>
            <a:off x="12192000" y="5257800"/>
            <a:ext cx="2946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Test mirati</a:t>
            </a:r>
            <a:endParaRPr lang="it-IT" sz="2400" noProof="0" dirty="0"/>
          </a:p>
        </p:txBody>
      </p:sp>
      <p:sp>
        <p:nvSpPr>
          <p:cNvPr id="33" name="q4b"/>
          <p:cNvSpPr/>
          <p:nvPr/>
        </p:nvSpPr>
        <p:spPr>
          <a:xfrm>
            <a:off x="12192000" y="5816600"/>
            <a:ext cx="29464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test su regole, orchestrazione, localizzazione e contratto REST del client.</a:t>
            </a:r>
            <a:endParaRPr lang="it-IT" sz="1400" noProof="0" dirty="0"/>
          </a:p>
        </p:txBody>
      </p:sp>
      <p:sp>
        <p:nvSpPr>
          <p:cNvPr id="34" name="footer"/>
          <p:cNvSpPr/>
          <p:nvPr/>
        </p:nvSpPr>
        <p:spPr>
          <a:xfrm>
            <a:off x="762000" y="85852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 Charging Test System · Case study</a:t>
            </a:r>
            <a:endParaRPr lang="it-IT" sz="1400" noProof="0" dirty="0"/>
          </a:p>
        </p:txBody>
      </p:sp>
      <p:sp>
        <p:nvSpPr>
          <p:cNvPr id="35" name="page"/>
          <p:cNvSpPr/>
          <p:nvPr/>
        </p:nvSpPr>
        <p:spPr>
          <a:xfrm>
            <a:off x="13716000" y="8585200"/>
            <a:ext cx="177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11</a:t>
            </a:r>
            <a:endParaRPr lang="it-IT" sz="1400" noProof="0" dirty="0"/>
          </a:p>
        </p:txBody>
      </p:sp>
      <p:sp>
        <p:nvSpPr>
          <p:cNvPr id="36" name="register"/>
          <p:cNvSpPr/>
          <p:nvPr/>
        </p:nvSpPr>
        <p:spPr>
          <a:xfrm>
            <a:off x="15303500" y="330200"/>
            <a:ext cx="190500" cy="190500"/>
          </a:xfrm>
          <a:prstGeom prst="rect">
            <a:avLst/>
          </a:prstGeom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/>
          <p:nvPr/>
        </p:nvSpPr>
        <p:spPr>
          <a:xfrm>
            <a:off x="762000" y="3556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CRITICITÀ E MITIGAZIONI</a:t>
            </a:r>
            <a:endParaRPr lang="it-IT" sz="1400" noProof="0" dirty="0"/>
          </a:p>
        </p:txBody>
      </p:sp>
      <p:sp>
        <p:nvSpPr>
          <p:cNvPr id="3" name="title"/>
          <p:cNvSpPr/>
          <p:nvPr/>
        </p:nvSpPr>
        <p:spPr>
          <a:xfrm>
            <a:off x="762000" y="863600"/>
            <a:ext cx="1320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3200" noProof="0" dirty="0">
                <a:solidFill>
                  <a:srgbClr val="1118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Il progetto è intenzionalmente onesto sui limiti di produzione</a:t>
            </a:r>
            <a:endParaRPr lang="it-IT" sz="3200" noProof="0" dirty="0"/>
          </a:p>
        </p:txBody>
      </p:sp>
      <p:sp>
        <p:nvSpPr>
          <p:cNvPr id="4" name="intro"/>
          <p:cNvSpPr/>
          <p:nvPr/>
        </p:nvSpPr>
        <p:spPr>
          <a:xfrm>
            <a:off x="762000" y="1600200"/>
            <a:ext cx="1397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Ogni rischio rilevante viene mantenuto visibile e tradotto in un prossimo passo architetturale.</a:t>
            </a:r>
            <a:endParaRPr lang="it-IT" sz="1800" noProof="0" dirty="0"/>
          </a:p>
        </p:txBody>
      </p:sp>
      <p:sp>
        <p:nvSpPr>
          <p:cNvPr id="5" name="header"/>
          <p:cNvSpPr/>
          <p:nvPr/>
        </p:nvSpPr>
        <p:spPr>
          <a:xfrm>
            <a:off x="762000" y="2336800"/>
            <a:ext cx="14732000" cy="558800"/>
          </a:xfrm>
          <a:prstGeom prst="rect">
            <a:avLst/>
          </a:prstGeom>
          <a:solidFill>
            <a:srgbClr val="0B192C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6" name="h1"/>
          <p:cNvSpPr/>
          <p:nvPr/>
        </p:nvSpPr>
        <p:spPr>
          <a:xfrm>
            <a:off x="1066800" y="2501900"/>
            <a:ext cx="33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CRITICITÀ</a:t>
            </a:r>
            <a:endParaRPr lang="it-IT" sz="1400" noProof="0" dirty="0"/>
          </a:p>
        </p:txBody>
      </p:sp>
      <p:sp>
        <p:nvSpPr>
          <p:cNvPr id="7" name="h2"/>
          <p:cNvSpPr/>
          <p:nvPr/>
        </p:nvSpPr>
        <p:spPr>
          <a:xfrm>
            <a:off x="5359400" y="250190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LIMITAZIONE NELLA DEMO</a:t>
            </a:r>
            <a:endParaRPr lang="it-IT" sz="1400" noProof="0" dirty="0"/>
          </a:p>
        </p:txBody>
      </p:sp>
      <p:sp>
        <p:nvSpPr>
          <p:cNvPr id="8" name="h3"/>
          <p:cNvSpPr/>
          <p:nvPr/>
        </p:nvSpPr>
        <p:spPr>
          <a:xfrm>
            <a:off x="10668000" y="2501900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MITIGAZIONE IN PRODUZIONE</a:t>
            </a:r>
            <a:endParaRPr lang="it-IT" sz="1400" noProof="0" dirty="0"/>
          </a:p>
        </p:txBody>
      </p:sp>
      <p:sp>
        <p:nvSpPr>
          <p:cNvPr id="9" name="r1"/>
          <p:cNvSpPr/>
          <p:nvPr/>
        </p:nvSpPr>
        <p:spPr>
          <a:xfrm>
            <a:off x="762000" y="2895600"/>
            <a:ext cx="14732000" cy="109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r1a"/>
          <p:cNvSpPr/>
          <p:nvPr/>
        </p:nvSpPr>
        <p:spPr>
          <a:xfrm>
            <a:off x="1066800" y="3175000"/>
            <a:ext cx="3530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b="1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Adapter </a:t>
            </a:r>
            <a:r>
              <a:rPr lang="it-IT" sz="1800" b="1" noProof="0" dirty="0" err="1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vendor-specific</a:t>
            </a:r>
            <a:endParaRPr lang="it-IT" sz="1800" noProof="0" dirty="0"/>
          </a:p>
          <a:p>
            <a:pPr marL="0" indent="0" algn="l">
              <a:buNone/>
            </a:pP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/ </a:t>
            </a:r>
            <a:r>
              <a:rPr lang="it-IT" sz="1800" noProof="0" dirty="0" err="1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Modbus</a:t>
            </a: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MQTT</a:t>
            </a:r>
            <a:endParaRPr lang="it-IT" sz="1800" noProof="0" dirty="0"/>
          </a:p>
        </p:txBody>
      </p:sp>
      <p:sp>
        <p:nvSpPr>
          <p:cNvPr id="11" name="r1b"/>
          <p:cNvSpPr/>
          <p:nvPr/>
        </p:nvSpPr>
        <p:spPr>
          <a:xfrm>
            <a:off x="5359400" y="3175000"/>
            <a:ext cx="431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mock</a:t>
            </a: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contratti; nessun driver </a:t>
            </a:r>
            <a:r>
              <a:rPr lang="it-IT" sz="1400" noProof="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</a:t>
            </a: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reale nello skeleton</a:t>
            </a:r>
            <a:endParaRPr lang="it-IT" sz="1400" noProof="0" dirty="0"/>
          </a:p>
        </p:txBody>
      </p:sp>
      <p:sp>
        <p:nvSpPr>
          <p:cNvPr id="12" name="r1c"/>
          <p:cNvSpPr/>
          <p:nvPr/>
        </p:nvSpPr>
        <p:spPr>
          <a:xfrm>
            <a:off x="10668000" y="3175000"/>
            <a:ext cx="434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 err="1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adapter</a:t>
            </a:r>
            <a:r>
              <a:rPr lang="it-IT" sz="14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certificati, </a:t>
            </a:r>
            <a:r>
              <a:rPr lang="it-IT" sz="1400" noProof="0" dirty="0" err="1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timeout</a:t>
            </a:r>
            <a:r>
              <a:rPr lang="it-IT" sz="14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classificati, prove su banco</a:t>
            </a:r>
            <a:endParaRPr lang="it-IT" sz="1400" noProof="0" dirty="0"/>
          </a:p>
        </p:txBody>
      </p:sp>
      <p:sp>
        <p:nvSpPr>
          <p:cNvPr id="13" name="r2"/>
          <p:cNvSpPr/>
          <p:nvPr/>
        </p:nvSpPr>
        <p:spPr>
          <a:xfrm>
            <a:off x="762000" y="3987800"/>
            <a:ext cx="14732000" cy="1092200"/>
          </a:xfrm>
          <a:prstGeom prst="rect">
            <a:avLst/>
          </a:prstGeom>
          <a:solidFill>
            <a:srgbClr val="F3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4" name="r2a"/>
          <p:cNvSpPr/>
          <p:nvPr/>
        </p:nvSpPr>
        <p:spPr>
          <a:xfrm>
            <a:off x="1066800" y="4267200"/>
            <a:ext cx="3530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b="1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Affidabilità upload MES</a:t>
            </a:r>
            <a:endParaRPr lang="it-IT" sz="1800" noProof="0" dirty="0"/>
          </a:p>
          <a:p>
            <a:pPr marL="0" indent="0" algn="l">
              <a:buNone/>
            </a:pP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 indisponibile</a:t>
            </a:r>
            <a:endParaRPr lang="it-IT" sz="1800" noProof="0" dirty="0"/>
          </a:p>
        </p:txBody>
      </p:sp>
      <p:sp>
        <p:nvSpPr>
          <p:cNvPr id="15" name="r2b"/>
          <p:cNvSpPr/>
          <p:nvPr/>
        </p:nvSpPr>
        <p:spPr>
          <a:xfrm>
            <a:off x="5359400" y="4267200"/>
            <a:ext cx="431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PUT idempotente e </a:t>
            </a:r>
            <a:r>
              <a:rPr lang="it-IT" sz="1400" noProof="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mock</a:t>
            </a: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RAM; nessuna persistenza durevole</a:t>
            </a:r>
            <a:endParaRPr lang="it-IT" sz="1400" noProof="0" dirty="0"/>
          </a:p>
        </p:txBody>
      </p:sp>
      <p:sp>
        <p:nvSpPr>
          <p:cNvPr id="16" name="r2c"/>
          <p:cNvSpPr/>
          <p:nvPr/>
        </p:nvSpPr>
        <p:spPr>
          <a:xfrm>
            <a:off x="10668000" y="4267200"/>
            <a:ext cx="434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 err="1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outbox</a:t>
            </a:r>
            <a:r>
              <a:rPr lang="it-IT" sz="14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locale, </a:t>
            </a:r>
            <a:r>
              <a:rPr lang="it-IT" sz="1400" noProof="0" dirty="0" err="1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retry</a:t>
            </a:r>
            <a:r>
              <a:rPr lang="it-IT" sz="14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classificato, </a:t>
            </a:r>
            <a:r>
              <a:rPr lang="it-IT" sz="1400" noProof="0" dirty="0" err="1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</a:t>
            </a:r>
            <a:r>
              <a:rPr lang="it-IT" sz="14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lang="it-IT" sz="1400" noProof="0" dirty="0" err="1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idempotency</a:t>
            </a:r>
            <a:r>
              <a:rPr lang="it-IT" sz="14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key</a:t>
            </a:r>
            <a:endParaRPr lang="it-IT" sz="1400" noProof="0" dirty="0"/>
          </a:p>
        </p:txBody>
      </p:sp>
      <p:sp>
        <p:nvSpPr>
          <p:cNvPr id="17" name="r3"/>
          <p:cNvSpPr/>
          <p:nvPr/>
        </p:nvSpPr>
        <p:spPr>
          <a:xfrm>
            <a:off x="762000" y="5080000"/>
            <a:ext cx="14732000" cy="109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8" name="r3a"/>
          <p:cNvSpPr/>
          <p:nvPr/>
        </p:nvSpPr>
        <p:spPr>
          <a:xfrm>
            <a:off x="1066800" y="5359400"/>
            <a:ext cx="3530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b="1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Qualità dei campioni</a:t>
            </a:r>
            <a:endParaRPr lang="it-IT" sz="1800" noProof="0" dirty="0"/>
          </a:p>
          <a:p>
            <a:pPr marL="0" indent="0" algn="l">
              <a:buNone/>
            </a:pP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sincronizzazione fisica</a:t>
            </a:r>
            <a:endParaRPr lang="it-IT" sz="1800" noProof="0" dirty="0"/>
          </a:p>
        </p:txBody>
      </p:sp>
      <p:sp>
        <p:nvSpPr>
          <p:cNvPr id="19" name="r3b"/>
          <p:cNvSpPr/>
          <p:nvPr/>
        </p:nvSpPr>
        <p:spPr>
          <a:xfrm>
            <a:off x="5359400" y="5359400"/>
            <a:ext cx="431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invariante </a:t>
            </a:r>
            <a:r>
              <a:rPr lang="it-IT" sz="1400" noProof="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Sequence</a:t>
            </a: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prova semplificata sul campione finale</a:t>
            </a:r>
            <a:endParaRPr lang="it-IT" sz="1400" noProof="0" dirty="0"/>
          </a:p>
        </p:txBody>
      </p:sp>
      <p:sp>
        <p:nvSpPr>
          <p:cNvPr id="20" name="r3c"/>
          <p:cNvSpPr/>
          <p:nvPr/>
        </p:nvSpPr>
        <p:spPr>
          <a:xfrm>
            <a:off x="10668000" y="5359400"/>
            <a:ext cx="434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 err="1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skew</a:t>
            </a:r>
            <a:r>
              <a:rPr lang="it-IT" sz="14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temporale massimo, barriera di fine test, </a:t>
            </a:r>
            <a:r>
              <a:rPr lang="it-IT" sz="1400" noProof="0" dirty="0" err="1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</a:t>
            </a:r>
            <a:r>
              <a:rPr lang="it-IT" sz="14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checks</a:t>
            </a:r>
            <a:endParaRPr lang="it-IT" sz="1400" noProof="0" dirty="0"/>
          </a:p>
        </p:txBody>
      </p:sp>
      <p:sp>
        <p:nvSpPr>
          <p:cNvPr id="21" name="r4"/>
          <p:cNvSpPr/>
          <p:nvPr/>
        </p:nvSpPr>
        <p:spPr>
          <a:xfrm>
            <a:off x="762000" y="6172200"/>
            <a:ext cx="14732000" cy="1092200"/>
          </a:xfrm>
          <a:prstGeom prst="rect">
            <a:avLst/>
          </a:prstGeom>
          <a:solidFill>
            <a:srgbClr val="F3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2" name="r4a"/>
          <p:cNvSpPr/>
          <p:nvPr/>
        </p:nvSpPr>
        <p:spPr>
          <a:xfrm>
            <a:off x="1066800" y="6451600"/>
            <a:ext cx="3530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b="1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Sicurezza e osservabilità</a:t>
            </a:r>
            <a:endParaRPr lang="it-IT" sz="1800" noProof="0" dirty="0"/>
          </a:p>
          <a:p>
            <a:pPr marL="0" indent="0" algn="l">
              <a:buNone/>
            </a:pPr>
            <a:r>
              <a:rPr lang="it-IT" sz="18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accesso, audit, diagnosi</a:t>
            </a:r>
            <a:endParaRPr lang="it-IT" sz="1800" noProof="0" dirty="0"/>
          </a:p>
        </p:txBody>
      </p:sp>
      <p:sp>
        <p:nvSpPr>
          <p:cNvPr id="23" name="r4b"/>
          <p:cNvSpPr/>
          <p:nvPr/>
        </p:nvSpPr>
        <p:spPr>
          <a:xfrm>
            <a:off x="5359400" y="6451600"/>
            <a:ext cx="431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nessuna autenticazione o telemetria centralizzata nel </a:t>
            </a:r>
            <a:r>
              <a:rPr lang="it-IT" sz="1400" noProof="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mock</a:t>
            </a:r>
            <a:endParaRPr lang="it-IT" sz="1400" noProof="0" dirty="0"/>
          </a:p>
        </p:txBody>
      </p:sp>
      <p:sp>
        <p:nvSpPr>
          <p:cNvPr id="24" name="r4c"/>
          <p:cNvSpPr/>
          <p:nvPr/>
        </p:nvSpPr>
        <p:spPr>
          <a:xfrm>
            <a:off x="10668000" y="6451600"/>
            <a:ext cx="434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OAuth2 / credenziali protette, log strutturati, metriche e audit </a:t>
            </a:r>
            <a:r>
              <a:rPr lang="it-IT" sz="1400" noProof="0" dirty="0" err="1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trail</a:t>
            </a:r>
            <a:endParaRPr lang="it-IT" sz="1400" noProof="0" dirty="0"/>
          </a:p>
        </p:txBody>
      </p:sp>
      <p:sp>
        <p:nvSpPr>
          <p:cNvPr id="25" name="takeaway"/>
          <p:cNvSpPr/>
          <p:nvPr/>
        </p:nvSpPr>
        <p:spPr>
          <a:xfrm>
            <a:off x="762000" y="7670800"/>
            <a:ext cx="14732000" cy="508000"/>
          </a:xfrm>
          <a:prstGeom prst="rect">
            <a:avLst/>
          </a:prstGeom>
          <a:solidFill>
            <a:srgbClr val="EAF7F6"/>
          </a:solidFill>
          <a:ln w="127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6" name="takeaway-t"/>
          <p:cNvSpPr/>
          <p:nvPr/>
        </p:nvSpPr>
        <p:spPr>
          <a:xfrm>
            <a:off x="1066800" y="7810500"/>
            <a:ext cx="1397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b="1" noProof="0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Scelta chiave:</a:t>
            </a:r>
            <a:r>
              <a:rPr lang="it-IT" sz="14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 limiti non vengono nascosti nel core; sono confinati agli </a:t>
            </a:r>
            <a:r>
              <a:rPr lang="it-IT" sz="1400" noProof="0" dirty="0" err="1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adapter</a:t>
            </a:r>
            <a:r>
              <a:rPr lang="it-IT" sz="1400" noProof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documentati come backlog di produzione.</a:t>
            </a:r>
            <a:endParaRPr lang="it-IT" sz="1400" noProof="0" dirty="0"/>
          </a:p>
        </p:txBody>
      </p:sp>
      <p:sp>
        <p:nvSpPr>
          <p:cNvPr id="27" name="footer"/>
          <p:cNvSpPr/>
          <p:nvPr/>
        </p:nvSpPr>
        <p:spPr>
          <a:xfrm>
            <a:off x="762000" y="85852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 Charging Test System · Case study</a:t>
            </a:r>
            <a:endParaRPr lang="it-IT" sz="1400" noProof="0" dirty="0"/>
          </a:p>
        </p:txBody>
      </p:sp>
      <p:sp>
        <p:nvSpPr>
          <p:cNvPr id="28" name="page"/>
          <p:cNvSpPr/>
          <p:nvPr/>
        </p:nvSpPr>
        <p:spPr>
          <a:xfrm>
            <a:off x="13716000" y="8585200"/>
            <a:ext cx="177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it-IT" sz="1400" noProof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11</a:t>
            </a:r>
            <a:endParaRPr lang="it-IT" sz="1400" noProof="0" dirty="0"/>
          </a:p>
        </p:txBody>
      </p:sp>
      <p:sp>
        <p:nvSpPr>
          <p:cNvPr id="29" name="register"/>
          <p:cNvSpPr/>
          <p:nvPr/>
        </p:nvSpPr>
        <p:spPr>
          <a:xfrm>
            <a:off x="15303500" y="330200"/>
            <a:ext cx="190500" cy="190500"/>
          </a:xfrm>
          <a:prstGeom prst="rect">
            <a:avLst/>
          </a:prstGeom>
          <a:ln w="12700">
            <a:solidFill>
              <a:srgbClr val="0B192C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762000" y="1397000"/>
            <a:ext cx="12192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46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Grazie dell’attenzione.</a:t>
            </a:r>
          </a:p>
          <a:p>
            <a:pPr marL="0" indent="0" algn="l">
              <a:buNone/>
            </a:pPr>
            <a:endParaRPr lang="it-IT" sz="4600" noProof="0" dirty="0">
              <a:solidFill>
                <a:srgbClr val="FFFFFF"/>
              </a:solidFill>
              <a:latin typeface="Manrope" pitchFamily="34" charset="0"/>
            </a:endParaRPr>
          </a:p>
          <a:p>
            <a:pPr marL="0" indent="0" algn="l">
              <a:buNone/>
            </a:pPr>
            <a:endParaRPr lang="it-IT" sz="4600" noProof="0" dirty="0">
              <a:solidFill>
                <a:srgbClr val="FFFFFF"/>
              </a:solidFill>
              <a:latin typeface="Manrope" pitchFamily="34" charset="0"/>
            </a:endParaRPr>
          </a:p>
        </p:txBody>
      </p:sp>
      <p:sp>
        <p:nvSpPr>
          <p:cNvPr id="4" name="road-line"/>
          <p:cNvSpPr/>
          <p:nvPr/>
        </p:nvSpPr>
        <p:spPr>
          <a:xfrm>
            <a:off x="1676400" y="4368800"/>
            <a:ext cx="12877800" cy="9144"/>
          </a:xfrm>
          <a:prstGeom prst="line">
            <a:avLst/>
          </a:prstGeom>
          <a:ln w="254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5" name="dot1"/>
          <p:cNvSpPr/>
          <p:nvPr/>
        </p:nvSpPr>
        <p:spPr>
          <a:xfrm>
            <a:off x="2387600" y="4165600"/>
            <a:ext cx="406400" cy="406400"/>
          </a:xfrm>
          <a:prstGeom prst="ellipse">
            <a:avLst/>
          </a:prstGeom>
          <a:solidFill>
            <a:srgbClr val="0055FF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6" name="dot2"/>
          <p:cNvSpPr/>
          <p:nvPr/>
        </p:nvSpPr>
        <p:spPr>
          <a:xfrm>
            <a:off x="7696200" y="4165600"/>
            <a:ext cx="406400" cy="406400"/>
          </a:xfrm>
          <a:prstGeom prst="ellipse">
            <a:avLst/>
          </a:prstGeom>
          <a:solidFill>
            <a:srgbClr val="0055FF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7" name="dot3"/>
          <p:cNvSpPr/>
          <p:nvPr/>
        </p:nvSpPr>
        <p:spPr>
          <a:xfrm>
            <a:off x="13055600" y="4165600"/>
            <a:ext cx="406400" cy="4064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8" name="p1n"/>
          <p:cNvSpPr/>
          <p:nvPr/>
        </p:nvSpPr>
        <p:spPr>
          <a:xfrm>
            <a:off x="1676400" y="29718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1</a:t>
            </a:r>
            <a:endParaRPr lang="it-IT" sz="1400" noProof="0" dirty="0"/>
          </a:p>
        </p:txBody>
      </p:sp>
      <p:sp>
        <p:nvSpPr>
          <p:cNvPr id="9" name="p1t"/>
          <p:cNvSpPr/>
          <p:nvPr/>
        </p:nvSpPr>
        <p:spPr>
          <a:xfrm>
            <a:off x="1676400" y="34290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Integrare</a:t>
            </a:r>
            <a:endParaRPr lang="it-IT" sz="2400" noProof="0" dirty="0"/>
          </a:p>
        </p:txBody>
      </p:sp>
      <p:sp>
        <p:nvSpPr>
          <p:cNvPr id="10" name="p1b"/>
          <p:cNvSpPr/>
          <p:nvPr/>
        </p:nvSpPr>
        <p:spPr>
          <a:xfrm>
            <a:off x="1676400" y="4851400"/>
            <a:ext cx="3175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noProof="0" dirty="0">
                <a:solidFill>
                  <a:srgbClr val="C9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Adapter CAN / </a:t>
            </a:r>
            <a:r>
              <a:rPr lang="it-IT" sz="1800" noProof="0" dirty="0" err="1">
                <a:solidFill>
                  <a:srgbClr val="C9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Modbus</a:t>
            </a:r>
            <a:r>
              <a:rPr lang="it-IT" sz="1800" noProof="0" dirty="0">
                <a:solidFill>
                  <a:srgbClr val="C9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MQTT reali, capability </a:t>
            </a:r>
            <a:r>
              <a:rPr lang="it-IT" sz="1800" noProof="0" dirty="0" err="1">
                <a:solidFill>
                  <a:srgbClr val="C9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r>
              <a:rPr lang="it-IT" sz="1800" noProof="0" dirty="0">
                <a:solidFill>
                  <a:srgbClr val="C9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test di integrazione su banco.</a:t>
            </a:r>
            <a:endParaRPr lang="it-IT" sz="1800" noProof="0" dirty="0"/>
          </a:p>
        </p:txBody>
      </p:sp>
      <p:sp>
        <p:nvSpPr>
          <p:cNvPr id="11" name="p2n"/>
          <p:cNvSpPr/>
          <p:nvPr/>
        </p:nvSpPr>
        <p:spPr>
          <a:xfrm>
            <a:off x="6680200" y="29718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2</a:t>
            </a:r>
            <a:endParaRPr lang="it-IT" sz="1400" noProof="0" dirty="0"/>
          </a:p>
        </p:txBody>
      </p:sp>
      <p:sp>
        <p:nvSpPr>
          <p:cNvPr id="12" name="p2t"/>
          <p:cNvSpPr/>
          <p:nvPr/>
        </p:nvSpPr>
        <p:spPr>
          <a:xfrm>
            <a:off x="6680200" y="34290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Irrobustire</a:t>
            </a:r>
            <a:endParaRPr lang="it-IT" sz="2400" noProof="0" dirty="0"/>
          </a:p>
        </p:txBody>
      </p:sp>
      <p:sp>
        <p:nvSpPr>
          <p:cNvPr id="13" name="p2b"/>
          <p:cNvSpPr/>
          <p:nvPr/>
        </p:nvSpPr>
        <p:spPr>
          <a:xfrm>
            <a:off x="6680200" y="4851400"/>
            <a:ext cx="3302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noProof="0" dirty="0" err="1">
                <a:solidFill>
                  <a:srgbClr val="C9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Outbox</a:t>
            </a:r>
            <a:r>
              <a:rPr lang="it-IT" sz="1800" noProof="0" dirty="0">
                <a:solidFill>
                  <a:srgbClr val="C9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autenticazione MES, configurazione protetta, </a:t>
            </a:r>
            <a:r>
              <a:rPr lang="it-IT" sz="1800" noProof="0" dirty="0" err="1">
                <a:solidFill>
                  <a:srgbClr val="C9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</a:t>
            </a:r>
            <a:r>
              <a:rPr lang="it-IT" sz="1800" noProof="0" dirty="0">
                <a:solidFill>
                  <a:srgbClr val="C9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ID e telemetria.</a:t>
            </a:r>
            <a:endParaRPr lang="it-IT" sz="1800" noProof="0" dirty="0"/>
          </a:p>
        </p:txBody>
      </p:sp>
      <p:sp>
        <p:nvSpPr>
          <p:cNvPr id="14" name="p3n"/>
          <p:cNvSpPr/>
          <p:nvPr/>
        </p:nvSpPr>
        <p:spPr>
          <a:xfrm>
            <a:off x="11988800" y="29718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400" noProof="0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3</a:t>
            </a:r>
            <a:endParaRPr lang="it-IT" sz="1400" noProof="0" dirty="0"/>
          </a:p>
        </p:txBody>
      </p:sp>
      <p:sp>
        <p:nvSpPr>
          <p:cNvPr id="15" name="p3t"/>
          <p:cNvSpPr/>
          <p:nvPr/>
        </p:nvSpPr>
        <p:spPr>
          <a:xfrm>
            <a:off x="11988800" y="34290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24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Validare</a:t>
            </a:r>
            <a:endParaRPr lang="it-IT" sz="2400" noProof="0" dirty="0"/>
          </a:p>
        </p:txBody>
      </p:sp>
      <p:sp>
        <p:nvSpPr>
          <p:cNvPr id="16" name="p3b"/>
          <p:cNvSpPr/>
          <p:nvPr/>
        </p:nvSpPr>
        <p:spPr>
          <a:xfrm>
            <a:off x="11988800" y="4851400"/>
            <a:ext cx="31242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noProof="0" dirty="0">
                <a:solidFill>
                  <a:srgbClr val="C9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con hardware, fault injection, load test e criteri di accettazione operatore.</a:t>
            </a:r>
            <a:endParaRPr lang="it-IT" sz="1800" noProof="0" dirty="0"/>
          </a:p>
        </p:txBody>
      </p:sp>
      <p:sp>
        <p:nvSpPr>
          <p:cNvPr id="17" name="closing-box"/>
          <p:cNvSpPr/>
          <p:nvPr/>
        </p:nvSpPr>
        <p:spPr>
          <a:xfrm>
            <a:off x="762000" y="6959600"/>
            <a:ext cx="14732000" cy="787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3000"/>
              </a:srgbClr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8" name="closing"/>
          <p:cNvSpPr/>
          <p:nvPr/>
        </p:nvSpPr>
        <p:spPr>
          <a:xfrm>
            <a:off x="1092200" y="7213600"/>
            <a:ext cx="1371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1800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Marcomattia Mocellin · Senior Software Engineer / Technical Lead · marcomattia.mocellin@gmail.com</a:t>
            </a:r>
            <a:endParaRPr lang="it-IT" sz="1800" noProof="0" dirty="0"/>
          </a:p>
        </p:txBody>
      </p:sp>
      <p:sp>
        <p:nvSpPr>
          <p:cNvPr id="19" name="page"/>
          <p:cNvSpPr/>
          <p:nvPr/>
        </p:nvSpPr>
        <p:spPr>
          <a:xfrm>
            <a:off x="13716000" y="8585200"/>
            <a:ext cx="177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it-IT" sz="1400" noProof="0" dirty="0">
                <a:solidFill>
                  <a:srgbClr val="C9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11</a:t>
            </a:r>
            <a:endParaRPr lang="it-IT" sz="1400" noProof="0" dirty="0"/>
          </a:p>
        </p:txBody>
      </p:sp>
      <p:sp>
        <p:nvSpPr>
          <p:cNvPr id="20" name="register"/>
          <p:cNvSpPr/>
          <p:nvPr/>
        </p:nvSpPr>
        <p:spPr>
          <a:xfrm>
            <a:off x="15303500" y="330200"/>
            <a:ext cx="190500" cy="190500"/>
          </a:xfrm>
          <a:prstGeom prst="rect">
            <a:avLst/>
          </a:prstGeom>
          <a:ln w="12700">
            <a:solidFill>
              <a:srgbClr val="0055FF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1d12869-2d8b-44a6-95c2-f7f076008aa9}" enabled="0" method="" siteId="{71d12869-2d8b-44a6-95c2-f7f076008aa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1136</Words>
  <Application>Microsoft Office PowerPoint</Application>
  <PresentationFormat>Personalizzato</PresentationFormat>
  <Paragraphs>217</Paragraphs>
  <Slides>11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8" baseType="lpstr">
      <vt:lpstr>Arial</vt:lpstr>
      <vt:lpstr>voestalpine Light</vt:lpstr>
      <vt:lpstr>Inter</vt:lpstr>
      <vt:lpstr>Manrope</vt:lpstr>
      <vt:lpstr>voestalpine</vt:lpstr>
      <vt:lpstr>Roboto Mono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di Test per Ricarica DC — Architettura e percorso verso la produzione</dc:title>
  <dc:subject>Sistema di Test per Ricarica DC — Architettura e percorso verso la produzione</dc:subject>
  <dc:creator>Manus</dc:creator>
  <cp:lastModifiedBy>MOCELLIN MARCOMATTIA</cp:lastModifiedBy>
  <cp:revision>1</cp:revision>
  <dcterms:created xsi:type="dcterms:W3CDTF">2026-10-07T06:40:28Z</dcterms:created>
  <dcterms:modified xsi:type="dcterms:W3CDTF">2026-10-07T09:57:32Z</dcterms:modified>
</cp:coreProperties>
</file>